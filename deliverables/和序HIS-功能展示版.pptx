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门诊量</c:v>
                </c:pt>
              </c:strCache>
            </c:strRef>
          </c:tx>
          <c:spPr>
            <a:ln w="28575">
              <a:solidFill>
                <a:srgbClr val="5B6BF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10-23</c:v>
                </c:pt>
                <c:pt idx="1">
                  <c:v>10-24</c:v>
                </c:pt>
                <c:pt idx="2">
                  <c:v>10-25</c:v>
                </c:pt>
                <c:pt idx="3">
                  <c:v>10-26</c:v>
                </c:pt>
                <c:pt idx="4">
                  <c:v>10-27</c:v>
                </c:pt>
                <c:pt idx="5">
                  <c:v>10-28</c:v>
                </c:pt>
                <c:pt idx="6">
                  <c:v>10-29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  <c:pt idx="4">
                  <c:v>9</c:v>
                </c:pt>
                <c:pt idx="5">
                  <c:v>6</c:v>
                </c:pt>
                <c:pt idx="6">
                  <c:v>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ECECF1"/>
            </a:solidFill>
          </a:ln>
        </c:spPr>
        <c:txPr>
          <a:bodyPr/>
          <a:lstStyle/>
          <a:p>
            <a:pPr>
              <a:defRPr sz="800">
                <a:solidFill>
                  <a:srgbClr val="9A9AA5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0"/>
          <c:min val="0.0"/>
        </c:scaling>
        <c:delete val="0"/>
        <c:axPos val="l"/>
        <c:majorGridlines>
          <c:spPr>
            <a:ln w="9525">
              <a:solidFill>
                <a:srgbClr val="ECEC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9A9AA5"/>
                </a:solidFill>
              </a:defRPr>
            </a:pPr>
          </a:p>
        </c:txPr>
        <c:crossAx val="2118791784"/>
        <c:crosses val="autoZero"/>
        <c:majorUnit val="3.0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9A9AA5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依据老师第4至12课课件。只实现选定分系统的部分功能，不声称规范全文合规认证。代码与功能详见 docs/requirements.md。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功能主题对应老师课件；未编造2002规范条款编号。不含住院、真实医保、真实支付、PACS或区域平台联调。来源 docs/requirements.md。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现场按本页顺序操作，收费时扣批次库存，发药不重复扣减。来源：项目 docs/demo-script.md 与 backend/app/services/business.py。患者与药品均为虚构教学数据。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现场使用 doctor.demo 打开接诊看板，点开始接诊，再进入诊疗工作台。看板每15秒刷新列表，每1秒更新时钟；当日挂号按日期查询（最多100条），不再从最近100条中客户端过滤。此页是功能流程说明，不是应用截图。来源：frontend/src/pages/ClinicalExtensions.ts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医生可保存主诉、现病史、既往史、过敏史和查体意见，并选择12项常用ICD-10教学示例或手动录入诊断。提交处方后本次文书锁定。患者时间线展示日期、诊断、处方状态和金额，医生只看本人就诊记录。课程门诊记录不声称完整电子病历认证。来源：ClinicalExtensions.tsx、ClinicalPages.tsx 与 diagnoses.py。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费员在收费台核对明细并选择现金、银行卡或模拟扫码，属于课程记账，不接真实支付。收费明细改为弹窗核对。在收费记录中，只对未发药且有批次出库记录的处方显示退费入口，退费回到原批次，保留原收费凭证。打印页使用浏览器打印，可保存PDF。28元为普通初始化药甲12.50×2加药乙3.00×1的计价示例。来源：OperationsPages.tsx、PrintDocumentPage.tsx、clinical_finan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药师或管理员打开库存预警与流水。低库存阈值为10，近效期30天，过期批次隔离且不计入可用量。药品下拉只显示未过期可用库存，零库存不可选。出入库流水列出药品、批号、数量变动和关联处方。源库初始化含2项低库存、1项近效期及1项过期提醒，具体会随操作变化。来源：库存提醒API与 frontend/src/pages/OperationsPages.tsx。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图表为展示数据库的虚构教学记录，不是真实医院经营情况。数据来源：showcase-api-evidence.json，接口 /api/reports/range，2026-10-23至2026-10-29。合计44人次、收费840.30元、退费0元、净额840.30元。页面支持今日/7天/30天、自选区间（最多90天）、净收入趋势、科室分布与CSV导出。现场操作后数字会变化，PPT保存的是生成时快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本轮以可见功能为主，保留已有业务校验，没有扩展PostgreSQL、真实支付/医保或真实AI调用。后端47项测试通过、前端20项测试通过，主要页面已用Chrome DevTools复验；打印预览与窄屏逐页布局仍待现场核对，未将测试冒充浏览器验收。来源：docs/高分升级实施清单.md 与 docs/test-report.md。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 start-showcase.ps1，首次会准备当天独立展示库。4个常用账号为admin.demo、doctor.demo、cashier.demo、pharmacist.demo，密码Demo123!。先管理员看趋势图，再医生看叫号和文书，收费员收费打印，药师展示库存与发药，最后回管理员看统计。5分钟主线、2分钟答辩。提前填写班级成员信息并亲自演练，结束在终端Ctrl+C停止。无公网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29260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课堂功能演示版 / 2026.10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1732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门诊业务一体化工作台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01952"/>
            <a:ext cx="6309360" cy="2103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让门诊业务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清晰而有序。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9392"/>
            <a:ext cx="61264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0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和序 HIS · 门诊业务闭环系统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0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连接患者、医生、收费与药房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0352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门诊医生工作站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0" y="5303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门诊收费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59" y="53035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门诊药房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63056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基于《医院信息系统基本功能规范》的课程设计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234440"/>
            <a:ext cx="3977639" cy="43434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148132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一条完整的门诊业务线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193852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1920240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患者与号源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221992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建档、排班、挂号贯通</a:t>
            </a:r>
          </a:p>
        </p:txBody>
      </p:sp>
      <p:sp>
        <p:nvSpPr>
          <p:cNvPr id="23" name="Oval 22"/>
          <p:cNvSpPr/>
          <p:nvPr/>
        </p:nvSpPr>
        <p:spPr>
          <a:xfrm>
            <a:off x="7818120" y="3017520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999232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接诊与开方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3300984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文书、诊断、处方自动划价</a:t>
            </a:r>
          </a:p>
        </p:txBody>
      </p:sp>
      <p:sp>
        <p:nvSpPr>
          <p:cNvPr id="26" name="Oval 25"/>
          <p:cNvSpPr/>
          <p:nvPr/>
        </p:nvSpPr>
        <p:spPr>
          <a:xfrm>
            <a:off x="7818120" y="4096512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4078224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收费与发药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4379976"/>
            <a:ext cx="285292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批次库存与退费全程留痕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01 / 选题范围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三个门诊分系统，聚焦一条完整业务线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只实现选定分系统的部分功能，不声称规范全文合规认证。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40"/>
            <a:ext cx="3538728" cy="29718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6112" y="2404872"/>
            <a:ext cx="457200" cy="457200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99923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门诊医生工作站</a:t>
            </a:r>
          </a:p>
        </p:txBody>
      </p:sp>
      <p:sp>
        <p:nvSpPr>
          <p:cNvPr id="18" name="Oval 17"/>
          <p:cNvSpPr/>
          <p:nvPr/>
        </p:nvSpPr>
        <p:spPr>
          <a:xfrm>
            <a:off x="896112" y="350672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43814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接诊看板、诊疗记录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" y="387248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80390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常用诊断、多药处方</a:t>
            </a:r>
          </a:p>
        </p:txBody>
      </p:sp>
      <p:sp>
        <p:nvSpPr>
          <p:cNvPr id="22" name="Oval 21"/>
          <p:cNvSpPr/>
          <p:nvPr/>
        </p:nvSpPr>
        <p:spPr>
          <a:xfrm>
            <a:off x="896112" y="423824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169663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患者就诊时间线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2148840"/>
            <a:ext cx="3538728" cy="29718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EFF7FF"/>
              </a:gs>
              <a:gs pos="100000">
                <a:srgbClr val="FDFE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81144" y="2404872"/>
            <a:ext cx="457200" cy="457200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299923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门诊收费</a:t>
            </a:r>
          </a:p>
        </p:txBody>
      </p:sp>
      <p:sp>
        <p:nvSpPr>
          <p:cNvPr id="27" name="Oval 26"/>
          <p:cNvSpPr/>
          <p:nvPr/>
        </p:nvSpPr>
        <p:spPr>
          <a:xfrm>
            <a:off x="4581144" y="350672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5736" y="343814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收费方式、收费记录</a:t>
            </a:r>
          </a:p>
        </p:txBody>
      </p:sp>
      <p:sp>
        <p:nvSpPr>
          <p:cNvPr id="29" name="Oval 28"/>
          <p:cNvSpPr/>
          <p:nvPr/>
        </p:nvSpPr>
        <p:spPr>
          <a:xfrm>
            <a:off x="4581144" y="387248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5736" y="380390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未发药退费</a:t>
            </a:r>
          </a:p>
        </p:txBody>
      </p:sp>
      <p:sp>
        <p:nvSpPr>
          <p:cNvPr id="31" name="Oval 30"/>
          <p:cNvSpPr/>
          <p:nvPr/>
        </p:nvSpPr>
        <p:spPr>
          <a:xfrm>
            <a:off x="4581144" y="423824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5736" y="4169663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处方与凭证打印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10144" y="2148840"/>
            <a:ext cx="3538728" cy="2971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66175" y="2404872"/>
            <a:ext cx="457200" cy="457200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299923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门诊药房</a:t>
            </a:r>
          </a:p>
        </p:txBody>
      </p:sp>
      <p:sp>
        <p:nvSpPr>
          <p:cNvPr id="36" name="Oval 35"/>
          <p:cNvSpPr/>
          <p:nvPr/>
        </p:nvSpPr>
        <p:spPr>
          <a:xfrm>
            <a:off x="8266175" y="350672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0767" y="343814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批次入库、效期预警</a:t>
            </a:r>
          </a:p>
        </p:txBody>
      </p:sp>
      <p:sp>
        <p:nvSpPr>
          <p:cNvPr id="38" name="Oval 37"/>
          <p:cNvSpPr/>
          <p:nvPr/>
        </p:nvSpPr>
        <p:spPr>
          <a:xfrm>
            <a:off x="8266175" y="387248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7" y="3803904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出入库流水</a:t>
            </a:r>
          </a:p>
        </p:txBody>
      </p:sp>
      <p:sp>
        <p:nvSpPr>
          <p:cNvPr id="40" name="Oval 39"/>
          <p:cNvSpPr/>
          <p:nvPr/>
        </p:nvSpPr>
        <p:spPr>
          <a:xfrm>
            <a:off x="8266175" y="4238244"/>
            <a:ext cx="50292" cy="50292"/>
          </a:xfrm>
          <a:prstGeom prst="ellipse">
            <a:avLst/>
          </a:prstGeom>
          <a:solidFill>
            <a:srgbClr val="3F4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0767" y="4169663"/>
            <a:ext cx="2852927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核验已收费处方发药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394960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F7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5541264"/>
            <a:ext cx="1033272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支撑功能：患者档案 · 排班挂号 · 经营图表 · 导入与审计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144768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不包含住院、真实医保 / 支付、PACS 或区域平台联调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02 / 现场主线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一次门诊的现场操作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从挂号开始，到发药和追溯结束，每一步都更新对应业务记录。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" y="2103120"/>
            <a:ext cx="1975104" cy="24231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132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26" y="2834640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挂号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326" y="3200400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选择患者与排班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生成排队号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9834" y="2999232"/>
            <a:ext cx="16459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B8BCE0"/>
                </a:solidFill>
                <a:latin typeface="Segoe UI"/>
                <a:ea typeface="Microsoft YaHei"/>
                <a:cs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8998" y="2103120"/>
            <a:ext cx="1975104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6016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0166" y="2834640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开方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0166" y="3200400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保存诊疗记录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诊断与多药处方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8674" y="2999232"/>
            <a:ext cx="16459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B8BCE0"/>
                </a:solidFill>
                <a:latin typeface="Segoe UI"/>
                <a:ea typeface="Microsoft YaHei"/>
                <a:cs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07838" y="2103120"/>
            <a:ext cx="1975104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900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9006" y="2834640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收费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9006" y="3200400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核对费用与方式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生成可打印凭证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7514" y="2999232"/>
            <a:ext cx="16459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B8BCE0"/>
                </a:solidFill>
                <a:latin typeface="Segoe UI"/>
                <a:ea typeface="Microsoft YaHei"/>
                <a:cs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56678" y="2103120"/>
            <a:ext cx="1975104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5784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7846" y="2834640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发药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7846" y="3200400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核对药品明细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确认发药完成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6354" y="2999232"/>
            <a:ext cx="16459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B8BCE0"/>
                </a:solidFill>
                <a:latin typeface="Segoe UI"/>
                <a:ea typeface="Microsoft YaHei"/>
                <a:cs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05518" y="2103120"/>
            <a:ext cx="1975104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0668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6686" y="2834640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追溯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6686" y="3200400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回看患者时间线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查看经营图表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4892040"/>
            <a:ext cx="10908792" cy="9144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4E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504748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每一步操作都会更新对应的业务记录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376672"/>
            <a:ext cx="758952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号源 · 处方 · 库存 · 审计，都有可核对的现场变化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5138928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—— 全流程留痕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03 / 接诊看板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候诊与接诊进度集中查看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医生登录后打开接诊看板，按排队号有序开始接诊。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066543"/>
            <a:ext cx="10908792" cy="14173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9EBFF"/>
              </a:gs>
              <a:gs pos="100000">
                <a:srgbClr val="F3F9FF"/>
              </a:gs>
            </a:gsLst>
            <a:lin scaled="0" ang="19920000"/>
          </a:gradFill>
          <a:ln w="9525">
            <a:solidFill>
              <a:srgbClr val="E2E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226771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今日门诊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6060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有序候诊，安心就医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35808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当日挂号 · 按排队号接诊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12848"/>
            <a:ext cx="2743200" cy="51206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33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09:42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79776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每15秒更新候诊列表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03320"/>
            <a:ext cx="3538728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895344"/>
            <a:ext cx="457200" cy="457200"/>
          </a:xfrm>
          <a:prstGeom prst="ellipse">
            <a:avLst/>
          </a:prstGeom>
          <a:solidFill>
            <a:srgbClr val="F1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822191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候诊患者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023360"/>
            <a:ext cx="1645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等待接诊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703320"/>
            <a:ext cx="3538728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4568" y="3895344"/>
            <a:ext cx="457200" cy="457200"/>
          </a:xfrm>
          <a:prstGeom prst="ellipse">
            <a:avLst/>
          </a:prstGeom>
          <a:solidFill>
            <a:srgbClr val="F1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3822191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正在接诊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8072" y="4023360"/>
            <a:ext cx="1645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8072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诊室进行中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0144" y="3703320"/>
            <a:ext cx="3538728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3895344"/>
            <a:ext cx="457200" cy="457200"/>
          </a:xfrm>
          <a:prstGeom prst="ellipse">
            <a:avLst/>
          </a:prstGeom>
          <a:solidFill>
            <a:srgbClr val="F1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822191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今日完成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4023360"/>
            <a:ext cx="1645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3104" y="442569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已完成接诊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074920"/>
            <a:ext cx="109087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6112" y="528523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现场操作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276088"/>
            <a:ext cx="905256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医生登录 → 接诊看板 → 开始接诊 → 进入诊疗工作台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81344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界面示意，非系统截图；实际以本机系统为准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04 / 诊疗记录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文书、诊断与时间线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医生保存本次诊疗记录，提交处方后锁定；患者时间线可回看既往就诊。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03120"/>
            <a:ext cx="566928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042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本次诊疗记录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7432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主诉与现病史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743200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记录本次就诊原因与经过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" y="3026664"/>
            <a:ext cx="5120640" cy="256032"/>
          </a:xfrm>
          <a:prstGeom prst="roundRect">
            <a:avLst>
              <a:gd name="adj" fmla="val 50000"/>
            </a:avLst>
          </a:prstGeom>
          <a:solidFill>
            <a:srgbClr val="F8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5" y="3044952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填写本次记录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49300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既往史与过敏史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9300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开方前核实重要病史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3776472"/>
            <a:ext cx="5120640" cy="256032"/>
          </a:xfrm>
          <a:prstGeom prst="roundRect">
            <a:avLst>
              <a:gd name="adj" fmla="val 50000"/>
            </a:avLst>
          </a:prstGeom>
          <a:solidFill>
            <a:srgbClr val="F8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3794759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填写本次记录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24281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查体与诊疗意见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4242816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保存本次门诊记录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526279"/>
            <a:ext cx="5120640" cy="256032"/>
          </a:xfrm>
          <a:prstGeom prst="roundRect">
            <a:avLst>
              <a:gd name="adj" fmla="val 50000"/>
            </a:avLst>
          </a:prstGeom>
          <a:solidFill>
            <a:srgbClr val="F8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544568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填写本次记录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" y="507492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提交处方后锁定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510235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锁定后不可修改本次文书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37960" y="2103120"/>
            <a:ext cx="5010912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23042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患者就诊时间线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871216"/>
            <a:ext cx="7315" cy="2011680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22008" y="2825496"/>
            <a:ext cx="100584" cy="100584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2761488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本次接诊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0608" y="3026663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填写文书，选择诊断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12680" y="27889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进行中</a:t>
            </a:r>
          </a:p>
        </p:txBody>
      </p:sp>
      <p:sp>
        <p:nvSpPr>
          <p:cNvPr id="38" name="Oval 37"/>
          <p:cNvSpPr/>
          <p:nvPr/>
        </p:nvSpPr>
        <p:spPr>
          <a:xfrm>
            <a:off x="6922008" y="3538728"/>
            <a:ext cx="100584" cy="10058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0608" y="3474720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提交处方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50608" y="3739896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锁定本次诊疗记录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12680" y="35021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已锁定</a:t>
            </a:r>
          </a:p>
        </p:txBody>
      </p:sp>
      <p:sp>
        <p:nvSpPr>
          <p:cNvPr id="42" name="Oval 41"/>
          <p:cNvSpPr/>
          <p:nvPr/>
        </p:nvSpPr>
        <p:spPr>
          <a:xfrm>
            <a:off x="6922008" y="4251959"/>
            <a:ext cx="100584" cy="100584"/>
          </a:xfrm>
          <a:prstGeom prst="ellipse">
            <a:avLst/>
          </a:prstGeom>
          <a:solidFill>
            <a:srgbClr val="9A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50608" y="4187951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既往就诊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50608" y="4453127"/>
            <a:ext cx="26517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回看诊断、处方与费用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4215383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5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可追溯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5212080"/>
            <a:ext cx="4480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按时间回看诊断、处方与费用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常用诊断检索 · 12项 ICD-10 教学示例 · 支持手动录入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05 / 收费与退费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处方明细核对后收费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金额由后端计算；未发药处方可全额退费，药品退回原批次。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03120"/>
            <a:ext cx="5257800" cy="37490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042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处方明细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78892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演示药品甲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990088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10mg×10片 · ¥12.50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×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788920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¥25.00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264408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演示药品乙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465576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5mg×20片 · ¥3.00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264408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×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264408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¥3.00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767328"/>
            <a:ext cx="47365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136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应付金额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822191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1A9B70"/>
                </a:solidFill>
                <a:latin typeface="Segoe UI"/>
                <a:ea typeface="Microsoft YaHei"/>
                <a:cs typeface="Segoe UI"/>
              </a:rPr>
              <a:t>¥28.00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334256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12.50 × 2 + 3.00 ×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681728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收费方式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464515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现金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51760" y="464515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银行卡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0" y="46451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模拟扫码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13892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未发药处方可全额退费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药品退回原批次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103120"/>
            <a:ext cx="5376672" cy="37490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23042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打印内容</a:t>
            </a:r>
          </a:p>
        </p:txBody>
      </p:sp>
      <p:sp>
        <p:nvSpPr>
          <p:cNvPr id="36" name="Oval 35"/>
          <p:cNvSpPr/>
          <p:nvPr/>
        </p:nvSpPr>
        <p:spPr>
          <a:xfrm>
            <a:off x="6428232" y="2816352"/>
            <a:ext cx="402336" cy="402336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2788920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门诊处方笺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3044952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患者、诊断、药品、金额</a:t>
            </a:r>
          </a:p>
        </p:txBody>
      </p:sp>
      <p:sp>
        <p:nvSpPr>
          <p:cNvPr id="39" name="Oval 38"/>
          <p:cNvSpPr/>
          <p:nvPr/>
        </p:nvSpPr>
        <p:spPr>
          <a:xfrm>
            <a:off x="6428232" y="3456432"/>
            <a:ext cx="402336" cy="402336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7728" y="3429000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收费凭证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7728" y="3685032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收费方式、时间、收费员</a:t>
            </a:r>
          </a:p>
        </p:txBody>
      </p:sp>
      <p:sp>
        <p:nvSpPr>
          <p:cNvPr id="42" name="Oval 41"/>
          <p:cNvSpPr/>
          <p:nvPr/>
        </p:nvSpPr>
        <p:spPr>
          <a:xfrm>
            <a:off x="6428232" y="4096512"/>
            <a:ext cx="402336" cy="402336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4069080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退费标记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67728" y="4325112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保留原凭证与退费原因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28232" y="50749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浏览器打印 · PDF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0167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教学模拟记账，不连接真实支付；原收费凭证保留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06 / 药房库存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提前看到缺药与效期问题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低库存、近效期与过期批次集中提醒；出入库流水可追溯到批号与处方。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03120"/>
            <a:ext cx="353872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" y="22860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A67C37"/>
                </a:solidFill>
                <a:latin typeface="Segoe UI"/>
                <a:ea typeface="Microsoft YaHei"/>
                <a:cs typeface="Segoe UI"/>
              </a:rPr>
              <a:t>低库存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6791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≤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2461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可用数量不足或等于10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5112" y="2103120"/>
            <a:ext cx="353872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2860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近效期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6791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30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2461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未来30天内到期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2103120"/>
            <a:ext cx="353872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0" y="22860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D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B05D56"/>
                </a:solidFill>
                <a:latin typeface="Segoe UI"/>
                <a:ea typeface="Microsoft YaHei"/>
                <a:cs typeface="Segoe UI"/>
              </a:rPr>
              <a:t>已过期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791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隔离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461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保留记录，禁止收费出库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977639"/>
            <a:ext cx="10908792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605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出入库流水 · 字段示例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59943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批号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84632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BATCH-001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459943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数量变动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4846320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9B70"/>
                </a:solidFill>
                <a:latin typeface="Segoe UI"/>
                <a:ea typeface="Microsoft YaHei"/>
                <a:cs typeface="Segoe UI"/>
              </a:rPr>
              <a:t>-2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4599432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关联处方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4846320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RX-000040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4599432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操作人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6992" y="4846320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演示药师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" y="4526280"/>
            <a:ext cx="9966960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285232"/>
            <a:ext cx="9966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过期批次不计入可用库存，禁止用于收费出库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989320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低库存阈值 10 · 近效期 30 天 · 过期批次隔离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07 / 经营看板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7 天虚构教学业务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数据来自当前演示业务记录；现场操作后数字会变化。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084831"/>
            <a:ext cx="2624328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249424"/>
            <a:ext cx="2185416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有效挂号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468879"/>
            <a:ext cx="2185416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2980944"/>
            <a:ext cx="2185416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人次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7" y="2084831"/>
            <a:ext cx="2624328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2249424"/>
            <a:ext cx="2185416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收费金额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6744" y="2468879"/>
            <a:ext cx="2185416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3F4EDB"/>
                </a:solidFill>
                <a:latin typeface="Segoe UI"/>
                <a:ea typeface="Microsoft YaHei"/>
                <a:cs typeface="Segoe UI"/>
              </a:rPr>
              <a:t>¥840.30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6744" y="2980944"/>
            <a:ext cx="2185416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毛收入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2084831"/>
            <a:ext cx="2624328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249424"/>
            <a:ext cx="2185416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退费金额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468879"/>
            <a:ext cx="2185416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67C37"/>
                </a:solidFill>
                <a:latin typeface="Segoe UI"/>
                <a:ea typeface="Microsoft YaHei"/>
                <a:cs typeface="Segoe UI"/>
              </a:rPr>
              <a:t>¥0.00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980944"/>
            <a:ext cx="2185416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全额退费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61703" y="2084831"/>
            <a:ext cx="2624328" cy="1170432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249424"/>
            <a:ext cx="2185416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净收入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59" y="2468879"/>
            <a:ext cx="2185416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3F4EDB"/>
                </a:solidFill>
                <a:latin typeface="Segoe UI"/>
                <a:ea typeface="Microsoft YaHei"/>
                <a:cs typeface="Segoe UI"/>
              </a:rPr>
              <a:t>¥840.30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59" y="2980944"/>
            <a:ext cx="2185416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收费减退费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474720"/>
            <a:ext cx="6629400" cy="2423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365760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近7日门诊量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868680" y="3950208"/>
          <a:ext cx="6172200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7498079" y="3474720"/>
            <a:ext cx="4050791" cy="2423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54112" y="365760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统计能力</a:t>
            </a:r>
          </a:p>
        </p:txBody>
      </p:sp>
      <p:sp>
        <p:nvSpPr>
          <p:cNvPr id="36" name="Oval 35"/>
          <p:cNvSpPr/>
          <p:nvPr/>
        </p:nvSpPr>
        <p:spPr>
          <a:xfrm>
            <a:off x="7754112" y="4105656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18704" y="4032504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区间切换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0325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今日 / 近7天 / 近30天</a:t>
            </a:r>
          </a:p>
        </p:txBody>
      </p:sp>
      <p:sp>
        <p:nvSpPr>
          <p:cNvPr id="39" name="Oval 38"/>
          <p:cNvSpPr/>
          <p:nvPr/>
        </p:nvSpPr>
        <p:spPr>
          <a:xfrm>
            <a:off x="7754112" y="4526280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18704" y="4453128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自定义区间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45312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最多 90 天</a:t>
            </a:r>
          </a:p>
        </p:txBody>
      </p:sp>
      <p:sp>
        <p:nvSpPr>
          <p:cNvPr id="42" name="Oval 41"/>
          <p:cNvSpPr/>
          <p:nvPr/>
        </p:nvSpPr>
        <p:spPr>
          <a:xfrm>
            <a:off x="7754112" y="4946904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4873752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科室分布与 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8737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按区间导出报表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035040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数据快照：2026-10-23 至 2026-10-29 · 现场操作后数字会变化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09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08 / 展示重点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这次升级，现场看得到也用得上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界面基调与业务交互一起重做，保留原有业务校验和数据一致性。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03120"/>
            <a:ext cx="2624328" cy="32004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9536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界面基调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337870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7" y="3310128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白底淡紫蓝渐变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3726180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3657600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圆角卡片与胶囊按钮</a:t>
            </a:r>
          </a:p>
        </p:txBody>
      </p:sp>
      <p:sp>
        <p:nvSpPr>
          <p:cNvPr id="22" name="Oval 21"/>
          <p:cNvSpPr/>
          <p:nvPr/>
        </p:nvSpPr>
        <p:spPr>
          <a:xfrm>
            <a:off x="859536" y="4073652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05072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收费退费弹窗核对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47287" y="2103120"/>
            <a:ext cx="262432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66744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6744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看得到</a:t>
            </a:r>
          </a:p>
        </p:txBody>
      </p:sp>
      <p:sp>
        <p:nvSpPr>
          <p:cNvPr id="27" name="Oval 26"/>
          <p:cNvSpPr/>
          <p:nvPr/>
        </p:nvSpPr>
        <p:spPr>
          <a:xfrm>
            <a:off x="3666744" y="337870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5" y="3310128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实时接诊看板</a:t>
            </a:r>
          </a:p>
        </p:txBody>
      </p:sp>
      <p:sp>
        <p:nvSpPr>
          <p:cNvPr id="29" name="Oval 28"/>
          <p:cNvSpPr/>
          <p:nvPr/>
        </p:nvSpPr>
        <p:spPr>
          <a:xfrm>
            <a:off x="3666744" y="3726180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31335" y="3657600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患者就诊时间线</a:t>
            </a:r>
          </a:p>
        </p:txBody>
      </p:sp>
      <p:sp>
        <p:nvSpPr>
          <p:cNvPr id="31" name="Oval 30"/>
          <p:cNvSpPr/>
          <p:nvPr/>
        </p:nvSpPr>
        <p:spPr>
          <a:xfrm>
            <a:off x="3666744" y="4073652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1335" y="4005072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门诊与收入趋势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2103120"/>
            <a:ext cx="262432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3952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点得动</a:t>
            </a:r>
          </a:p>
        </p:txBody>
      </p:sp>
      <p:sp>
        <p:nvSpPr>
          <p:cNvPr id="36" name="Oval 35"/>
          <p:cNvSpPr/>
          <p:nvPr/>
        </p:nvSpPr>
        <p:spPr>
          <a:xfrm>
            <a:off x="6473952" y="337870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3310128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保存诊疗记录</a:t>
            </a:r>
          </a:p>
        </p:txBody>
      </p:sp>
      <p:sp>
        <p:nvSpPr>
          <p:cNvPr id="38" name="Oval 37"/>
          <p:cNvSpPr/>
          <p:nvPr/>
        </p:nvSpPr>
        <p:spPr>
          <a:xfrm>
            <a:off x="6473952" y="3726180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38544" y="3657600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收费与未发药退费</a:t>
            </a:r>
          </a:p>
        </p:txBody>
      </p:sp>
      <p:sp>
        <p:nvSpPr>
          <p:cNvPr id="40" name="Oval 39"/>
          <p:cNvSpPr/>
          <p:nvPr/>
        </p:nvSpPr>
        <p:spPr>
          <a:xfrm>
            <a:off x="6473952" y="4073652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4005072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打印处方和凭证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61703" y="2103120"/>
            <a:ext cx="262432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81159" y="2304288"/>
            <a:ext cx="420624" cy="420624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查得清</a:t>
            </a:r>
          </a:p>
        </p:txBody>
      </p:sp>
      <p:sp>
        <p:nvSpPr>
          <p:cNvPr id="45" name="Oval 44"/>
          <p:cNvSpPr/>
          <p:nvPr/>
        </p:nvSpPr>
        <p:spPr>
          <a:xfrm>
            <a:off x="9281159" y="337870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45751" y="3310128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低库存与效期提醒</a:t>
            </a:r>
          </a:p>
        </p:txBody>
      </p:sp>
      <p:sp>
        <p:nvSpPr>
          <p:cNvPr id="47" name="Oval 46"/>
          <p:cNvSpPr/>
          <p:nvPr/>
        </p:nvSpPr>
        <p:spPr>
          <a:xfrm>
            <a:off x="9281159" y="3726180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45751" y="3657600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按批次追溯流水</a:t>
            </a:r>
          </a:p>
        </p:txBody>
      </p:sp>
      <p:sp>
        <p:nvSpPr>
          <p:cNvPr id="49" name="Oval 48"/>
          <p:cNvSpPr/>
          <p:nvPr/>
        </p:nvSpPr>
        <p:spPr>
          <a:xfrm>
            <a:off x="9281159" y="4073652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45751" y="4005072"/>
            <a:ext cx="2075688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按区间导出报表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50468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后端 47 项测试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550468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前端 20 项测试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49039" y="550468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主要页面已复验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559552"/>
            <a:ext cx="58521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所有场景均使用虚构数据，页面操作更新业务记录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37360" y="-2377440"/>
            <a:ext cx="7863840" cy="5486400"/>
          </a:xfrm>
          <a:prstGeom prst="ellipse">
            <a:avLst/>
          </a:prstGeom>
          <a:gradFill rotWithShape="1">
            <a:gsLst>
              <a:gs pos="0">
                <a:srgbClr val="E9EBFF"/>
              </a:gs>
              <a:gs pos="100000">
                <a:srgbClr val="FAFAFC"/>
              </a:gs>
            </a:gsLst>
            <a:lin scaled="0" ang="1932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468880"/>
            <a:ext cx="6766560" cy="4937760"/>
          </a:xfrm>
          <a:prstGeom prst="ellipse">
            <a:avLst/>
          </a:prstGeom>
          <a:gradFill rotWithShape="1">
            <a:gsLst>
              <a:gs pos="0">
                <a:srgbClr val="E6F4FF"/>
              </a:gs>
              <a:gs pos="100000">
                <a:srgbClr val="FAFAFC"/>
              </a:gs>
            </a:gsLst>
            <a:lin scaled="0" ang="1308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301752"/>
            <a:ext cx="347472" cy="347472"/>
          </a:xfrm>
          <a:prstGeom prst="ellipse">
            <a:avLst/>
          </a:prstGeom>
          <a:solidFill>
            <a:srgbClr val="11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34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和序 HIS</a:t>
            </a:r>
          </a:p>
        </p:txBody>
      </p:sp>
      <p:sp>
        <p:nvSpPr>
          <p:cNvPr id="8" name="Oval 7"/>
          <p:cNvSpPr/>
          <p:nvPr/>
        </p:nvSpPr>
        <p:spPr>
          <a:xfrm>
            <a:off x="1764792" y="384048"/>
            <a:ext cx="50292" cy="50292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2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门诊业务管理系统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347472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96112"/>
            <a:ext cx="256032" cy="41148"/>
          </a:xfrm>
          <a:prstGeom prst="rect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822960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6BFF"/>
                </a:solidFill>
                <a:latin typeface="Segoe UI"/>
                <a:ea typeface="Microsoft YaHei"/>
                <a:cs typeface="Segoe UI"/>
              </a:rPr>
              <a:t>09 / 现场演示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78992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本机现场演示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00784"/>
            <a:ext cx="1024128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一条命令启动，按门诊业务闭环现场操作。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03120"/>
            <a:ext cx="4846320" cy="3749039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E9EBFF"/>
              </a:gs>
              <a:gs pos="100000">
                <a:srgbClr val="FBFBFF"/>
              </a:gs>
            </a:gsLst>
            <a:lin scaled="0" ang="18900000"/>
          </a:gradFill>
          <a:ln w="9525">
            <a:solidFill>
              <a:srgbClr val="E3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31720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一键启动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004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11116"/>
                </a:solidFill>
                <a:latin typeface="Consolas"/>
                <a:ea typeface="Microsoft YaHei"/>
                <a:cs typeface="Consolas"/>
              </a:rPr>
              <a:t>start-showcase.ps1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46120"/>
            <a:ext cx="4297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F7F8B"/>
                </a:solidFill>
                <a:latin typeface="Segoe UI"/>
                <a:ea typeface="Microsoft YaHei"/>
                <a:cs typeface="Segoe UI"/>
              </a:rPr>
              <a:t>本机运行 · 无需公网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584448"/>
            <a:ext cx="4297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首次自动准备当天独立展示库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3977639"/>
            <a:ext cx="4343400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160520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① 管理员看经营趋势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489704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② 医生看接诊与文书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818888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③ 收费 / 药师看收费与库存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103120"/>
            <a:ext cx="5788152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C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16752" y="23042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116"/>
                </a:solidFill>
                <a:latin typeface="Segoe UI"/>
                <a:ea typeface="Microsoft YaHei"/>
                <a:cs typeface="Segoe UI"/>
              </a:rPr>
              <a:t>5 分钟展示主线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8" y="2852928"/>
            <a:ext cx="7315" cy="2331720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44768" y="2807208"/>
            <a:ext cx="100584" cy="100584"/>
          </a:xfrm>
          <a:prstGeom prst="ellipse">
            <a:avLst/>
          </a:prstGeom>
          <a:solidFill>
            <a:srgbClr val="5B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5080" y="274320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00:00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274320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经营看板与功能范围</a:t>
            </a:r>
          </a:p>
        </p:txBody>
      </p:sp>
      <p:sp>
        <p:nvSpPr>
          <p:cNvPr id="30" name="Oval 29"/>
          <p:cNvSpPr/>
          <p:nvPr/>
        </p:nvSpPr>
        <p:spPr>
          <a:xfrm>
            <a:off x="6144768" y="3310128"/>
            <a:ext cx="100584" cy="100584"/>
          </a:xfrm>
          <a:prstGeom prst="ellipse">
            <a:avLst/>
          </a:prstGeom>
          <a:solidFill>
            <a:srgbClr val="9A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55080" y="324612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00:40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24612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接诊、诊疗记录与时间线</a:t>
            </a:r>
          </a:p>
        </p:txBody>
      </p:sp>
      <p:sp>
        <p:nvSpPr>
          <p:cNvPr id="33" name="Oval 32"/>
          <p:cNvSpPr/>
          <p:nvPr/>
        </p:nvSpPr>
        <p:spPr>
          <a:xfrm>
            <a:off x="6144768" y="3813048"/>
            <a:ext cx="100584" cy="100584"/>
          </a:xfrm>
          <a:prstGeom prst="ellipse">
            <a:avLst/>
          </a:prstGeom>
          <a:solidFill>
            <a:srgbClr val="9A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37490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02:00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74904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收费与打印凭证</a:t>
            </a:r>
          </a:p>
        </p:txBody>
      </p:sp>
      <p:sp>
        <p:nvSpPr>
          <p:cNvPr id="36" name="Oval 35"/>
          <p:cNvSpPr/>
          <p:nvPr/>
        </p:nvSpPr>
        <p:spPr>
          <a:xfrm>
            <a:off x="6144768" y="4315968"/>
            <a:ext cx="100584" cy="100584"/>
          </a:xfrm>
          <a:prstGeom prst="ellipse">
            <a:avLst/>
          </a:prstGeom>
          <a:solidFill>
            <a:srgbClr val="9A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5080" y="425196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03:10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425196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发药、库存预警与流水</a:t>
            </a:r>
          </a:p>
        </p:txBody>
      </p:sp>
      <p:sp>
        <p:nvSpPr>
          <p:cNvPr id="39" name="Oval 38"/>
          <p:cNvSpPr/>
          <p:nvPr/>
        </p:nvSpPr>
        <p:spPr>
          <a:xfrm>
            <a:off x="6144768" y="4818888"/>
            <a:ext cx="100584" cy="100584"/>
          </a:xfrm>
          <a:prstGeom prst="ellipse">
            <a:avLst/>
          </a:prstGeom>
          <a:solidFill>
            <a:srgbClr val="9A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55080" y="475488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18288" tIns="18288" bIns="18288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664D8"/>
                </a:solidFill>
                <a:latin typeface="Segoe UI"/>
                <a:ea typeface="Microsoft YaHei"/>
                <a:cs typeface="Segoe UI"/>
              </a:rPr>
              <a:t>04:20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475488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5555F"/>
                </a:solidFill>
                <a:latin typeface="Segoe UI"/>
                <a:ea typeface="Microsoft YaHei"/>
                <a:cs typeface="Segoe UI"/>
              </a:rPr>
              <a:t>回看统计，准备答辩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0167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演示账号：admin.demo / doctor.demo / cashier.demo / pharmacist.demo · 统一密码 Demo123!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EC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和序 HIS · 门诊业务闭环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6492240"/>
            <a:ext cx="41422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9A9AA5"/>
                </a:solidFill>
                <a:latin typeface="Segoe UI"/>
                <a:ea typeface="Microsoft YaHei"/>
                <a:cs typeface="Segoe UI"/>
              </a:rPr>
              <a:t>本机演示 · 虚构数据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和序 HIS · 门诊业务闭环系统（功能展示版）</dc:title>
  <dc:subject>医院信息系统课程设计</dc:subject>
  <dc:creator>和序 HIS 课程设计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