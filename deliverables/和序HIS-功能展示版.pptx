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6bd49870ad4bef" /><Relationship Type="http://schemas.openxmlformats.org/officeDocument/2006/relationships/extended-properties" Target="/docProps/app.xml" Id="R2dcf60d412a4463d" /><Relationship Type="http://schemas.openxmlformats.org/officeDocument/2006/relationships/officeDocument" Target="/ppt/presentation.xml" Id="R8007697a3fb241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84dc311d524db5"/>
  </p:sldMasterIdLst>
  <p:notesMasterIdLst>
    <p:notesMasterId xmlns:r="http://schemas.openxmlformats.org/officeDocument/2006/relationships" r:id="R181420b80b994e7d"/>
  </p:notesMasterIdLst>
  <p:sldIdLst>
    <p:sldId xmlns:r="http://schemas.openxmlformats.org/officeDocument/2006/relationships" id="256" r:id="Rd772bb7e2c134a06"/>
    <p:sldId xmlns:r="http://schemas.openxmlformats.org/officeDocument/2006/relationships" id="257" r:id="Rf40b404c26234da0"/>
    <p:sldId xmlns:r="http://schemas.openxmlformats.org/officeDocument/2006/relationships" id="258" r:id="R2f85c6dadd9946dd"/>
    <p:sldId xmlns:r="http://schemas.openxmlformats.org/officeDocument/2006/relationships" id="259" r:id="R70f3531a698d43e4"/>
    <p:sldId xmlns:r="http://schemas.openxmlformats.org/officeDocument/2006/relationships" id="260" r:id="R4d8799fcbaec4e31"/>
    <p:sldId xmlns:r="http://schemas.openxmlformats.org/officeDocument/2006/relationships" id="261" r:id="R221380ad9b494a68"/>
    <p:sldId xmlns:r="http://schemas.openxmlformats.org/officeDocument/2006/relationships" id="262" r:id="Rb1a8163c3d884918"/>
    <p:sldId xmlns:r="http://schemas.openxmlformats.org/officeDocument/2006/relationships" id="263" r:id="R053afe4a951f4d45"/>
    <p:sldId xmlns:r="http://schemas.openxmlformats.org/officeDocument/2006/relationships" id="264" r:id="R0d8c1d1c10f446da"/>
    <p:sldId xmlns:r="http://schemas.openxmlformats.org/officeDocument/2006/relationships" id="265" r:id="R94c713bcc4f240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e9c1c83ece484a" /><Relationship Type="http://schemas.openxmlformats.org/officeDocument/2006/relationships/slideMaster" Target="/ppt/slideMasters/slideMaster1.xml" Id="R3584dc311d524db5" /><Relationship Type="http://schemas.openxmlformats.org/officeDocument/2006/relationships/notesMaster" Target="/ppt/notesMasters/notesMaster1.xml" Id="R181420b80b994e7d" /><Relationship Type="http://schemas.openxmlformats.org/officeDocument/2006/relationships/presProps" Target="/ppt/presProps.xml" Id="R07b17620881a438a" /><Relationship Type="http://schemas.openxmlformats.org/officeDocument/2006/relationships/tableStyles" Target="/ppt/tableStyles.xml" Id="Rc6a08b46b48544e4" /><Relationship Type="http://schemas.openxmlformats.org/officeDocument/2006/relationships/slide" Target="/ppt/slides/slide1.xml" Id="Rd772bb7e2c134a06" /><Relationship Type="http://schemas.openxmlformats.org/officeDocument/2006/relationships/slide" Target="/ppt/slides/slide2.xml" Id="Rf40b404c26234da0" /><Relationship Type="http://schemas.openxmlformats.org/officeDocument/2006/relationships/slide" Target="/ppt/slides/slide3.xml" Id="R2f85c6dadd9946dd" /><Relationship Type="http://schemas.openxmlformats.org/officeDocument/2006/relationships/slide" Target="/ppt/slides/slide4.xml" Id="R70f3531a698d43e4" /><Relationship Type="http://schemas.openxmlformats.org/officeDocument/2006/relationships/slide" Target="/ppt/slides/slide5.xml" Id="R4d8799fcbaec4e31" /><Relationship Type="http://schemas.openxmlformats.org/officeDocument/2006/relationships/slide" Target="/ppt/slides/slide6.xml" Id="R221380ad9b494a68" /><Relationship Type="http://schemas.openxmlformats.org/officeDocument/2006/relationships/slide" Target="/ppt/slides/slide7.xml" Id="Rb1a8163c3d884918" /><Relationship Type="http://schemas.openxmlformats.org/officeDocument/2006/relationships/slide" Target="/ppt/slides/slide8.xml" Id="R053afe4a951f4d45" /><Relationship Type="http://schemas.openxmlformats.org/officeDocument/2006/relationships/slide" Target="/ppt/slides/slide9.xml" Id="R0d8c1d1c10f446da" /><Relationship Type="http://schemas.openxmlformats.org/officeDocument/2006/relationships/slide" Target="/ppt/slides/slide10.xml" Id="R94c713bcc4f240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7a5596e5b148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cebaeeb9dd428c" /><Relationship Type="http://schemas.openxmlformats.org/officeDocument/2006/relationships/notesMaster" Target="/ppt/notesMasters/notesMaster1.xml" Id="Rff45107a51254c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97be5b31da47b5" /><Relationship Type="http://schemas.openxmlformats.org/officeDocument/2006/relationships/notesMaster" Target="/ppt/notesMasters/notesMaster1.xml" Id="R2dd76d7f229c4f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7bd50cdd794499" /><Relationship Type="http://schemas.openxmlformats.org/officeDocument/2006/relationships/notesMaster" Target="/ppt/notesMasters/notesMaster1.xml" Id="R8aebc36cb58343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c89134610d487c" /><Relationship Type="http://schemas.openxmlformats.org/officeDocument/2006/relationships/notesMaster" Target="/ppt/notesMasters/notesMaster1.xml" Id="R9c6c10389af34c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761cfbb2c74c2e" /><Relationship Type="http://schemas.openxmlformats.org/officeDocument/2006/relationships/notesMaster" Target="/ppt/notesMasters/notesMaster1.xml" Id="R7b30018af59549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003498346d46df" /><Relationship Type="http://schemas.openxmlformats.org/officeDocument/2006/relationships/notesMaster" Target="/ppt/notesMasters/notesMaster1.xml" Id="Rf721c93b8db443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ace33407854e6c" /><Relationship Type="http://schemas.openxmlformats.org/officeDocument/2006/relationships/notesMaster" Target="/ppt/notesMasters/notesMaster1.xml" Id="R4d60cd374b864b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f58542d4aa4d04" /><Relationship Type="http://schemas.openxmlformats.org/officeDocument/2006/relationships/notesMaster" Target="/ppt/notesMasters/notesMaster1.xml" Id="R917bf2b602b941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c2592b0a7f4748" /><Relationship Type="http://schemas.openxmlformats.org/officeDocument/2006/relationships/notesMaster" Target="/ppt/notesMasters/notesMaster1.xml" Id="R7f79f8bfcce645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670171953b462c" /><Relationship Type="http://schemas.openxmlformats.org/officeDocument/2006/relationships/notesMaster" Target="/ppt/notesMasters/notesMaster1.xml" Id="R4ee4c1d630244f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依据老师第4至12课课件。只实现选定分系统的部分功能，不声称规范全文合规认证。代码与功能详见 docs/requirements.md。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功能主题对应老师课件；未编造2002规范条款编号。不含住院、真实医保、真实支付、PACS或区域平台联调。来源 docs/requirements.md。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现场按本页顺序操作，收费时扣批次库存，发药不重复扣减。来源：项目 docs/demo-script.md 与 backend/app/services/business.py。患者与药品均为虚构教学数据。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现场使用 doctor.demo 打开接诊看板，点开始接诊，再进入诊疗工作台。看板每15秒刷新列表，每1秒更新时钟。只展示最近100条挂号中的当日记录。此页是功能流程说明，不是应用截图。来源：frontend/src/pages/ClinicalExtensions.tsx。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医生可保存主诉、现病史、既往史、过敏史和查体意见，并选择12项常用ICD-10教学示例或手动录入诊断。提交处方后本次文书锁定。患者时间线展示日期、诊断、处方状态和金额，医生只看本人就诊记录。课程门诊记录不声称完整电子病历认证。来源：ClinicalExtensions.tsx、ClinicalPages.tsx 与 diagnoses.py。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费员在收费台核对明细并选择现金、银行卡或模拟扫码，属于课程记账，不接真实支付。在收费记录中，只对未发药且有批次出库记录的处方显示退费入口，退费回到原批次，保留原收费凭证。打印页使用浏览器打印，可保存PDF。28元为普通初始化药甲12.50×2加药乙3.00×1的计价示例。来源：OperationsPages.tsx、PrintDocumentPage.tsx、clinical_financ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药师或管理员打开库存预警与流水。低库存阈值为10，近效期30天，过期批次隔离且不计入可用量。出入库流水列出药品、批号、数量变动和关联处方。源库初始化含2项低库存、1项近效期及1项过期提醒，具体会随操作变化。来源：库存提醒API与 frontend/src/pages/OperationsPages.tsx。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图表为展示数据库的虚构教学记录，不是真实医院经营情况。数据来源：showcase-api-evidence.json，接口 /api/reports/range，2026-10-23至2026-10-29。合计44人次、收费840.30元、退费0元、净额840.30元。页面支持今日/7天/30天、自选区间（最多90天）、净收入趋势、科室分布与CSV导出。现场操作后数字会变化，PPT保存的是生成时快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以可见功能为主，保留已有业务校验，没有扩展PostgreSQL、真实支付/医保或真实AI调用。后端本地46项测试通过、应用语句覆盖率约92%，最终前端数量以随附报告为准。新页面浏览器视觉验收由用户选择延后，未将单元测试冒充浏览器验收。来源：docs/高分升级实施清单.md 与 docs/test-report.md。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 start-showcase.ps1，首次会准备当天独立展示库。4个常用账号为admin.demo、doctor.demo、cashier.demo、pharmacist.demo，密码Demo123!。先管理员看趋势图，再医生看叫号和文书，收费员收费打印，药师展示库存与发药，最后回管理员看统计。5分钟主线、2分钟答辩。提前填写班级成员信息并亲自演练，结束在终端Ctrl+C停止。无公网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f14e49f804d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86d2421de4e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31fd2cd5be44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ff726439145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3dd26598a4b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5fa1d214b43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70D311-7153-4E5E-B6DD-D1267352E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9F1ABC-C41A-47A2-9484-C3E12CFD5F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629CC3-4647-431A-8AC7-0D6BBF6C7F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477111-166A-42B4-91F2-0A9F233FCC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8C3695-D87A-4E33-A4AA-B96991A4C5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97970F-B747-4773-9957-4C8A603FE2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A33451-E990-432C-95A9-569F050DA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043F18-C592-4251-8DBC-B31A9D1CB0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51DD9B-265E-441C-8430-65037FC890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EF47D7-A469-47DB-914F-40BE39ADED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8d901d84954c01" /><Relationship Type="http://schemas.openxmlformats.org/officeDocument/2006/relationships/slideLayout" Target="/ppt/slideLayouts/slideLayout1.xml" Id="R504e8275a2144938" /><Relationship Type="http://schemas.openxmlformats.org/officeDocument/2006/relationships/slideLayout" Target="/ppt/slideLayouts/slideLayout2.xml" Id="R147c1b69dff64d37" /><Relationship Type="http://schemas.openxmlformats.org/officeDocument/2006/relationships/slideLayout" Target="/ppt/slideLayouts/slideLayout3.xml" Id="R310eea9fc3384979" /><Relationship Type="http://schemas.openxmlformats.org/officeDocument/2006/relationships/slideLayout" Target="/ppt/slideLayouts/slideLayout4.xml" Id="Refd03f5fa6774b9a" /><Relationship Type="http://schemas.openxmlformats.org/officeDocument/2006/relationships/slideLayout" Target="/ppt/slideLayouts/slideLayout5.xml" Id="R1e32af4970914464" /><Relationship Type="http://schemas.openxmlformats.org/officeDocument/2006/relationships/slideLayout" Target="/ppt/slideLayouts/slideLayout6.xml" Id="R71cbbe11c6d743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4e8275a2144938"/>
    <p:sldLayoutId xmlns:r="http://schemas.openxmlformats.org/officeDocument/2006/relationships" id="2147483650" r:id="R147c1b69dff64d37"/>
    <p:sldLayoutId xmlns:r="http://schemas.openxmlformats.org/officeDocument/2006/relationships" id="2147483651" r:id="R310eea9fc3384979"/>
    <p:sldLayoutId xmlns:r="http://schemas.openxmlformats.org/officeDocument/2006/relationships" id="2147483652" r:id="Refd03f5fa6774b9a"/>
    <p:sldLayoutId xmlns:r="http://schemas.openxmlformats.org/officeDocument/2006/relationships" id="2147483653" r:id="R1e32af4970914464"/>
    <p:sldLayoutId xmlns:r="http://schemas.openxmlformats.org/officeDocument/2006/relationships" id="2147483654" r:id="R71cbbe11c6d743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266ade6e740d5" /><Relationship Type="http://schemas.openxmlformats.org/officeDocument/2006/relationships/notesSlide" Target="/ppt/notesSlides/notesSlide1.xml" Id="R2765ac13a7d04e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74e17856d43df" /><Relationship Type="http://schemas.openxmlformats.org/officeDocument/2006/relationships/notesSlide" Target="/ppt/notesSlides/notesSlide2.xml" Id="R44c95e68b6f640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3a053e51346eb" /><Relationship Type="http://schemas.openxmlformats.org/officeDocument/2006/relationships/notesSlide" Target="/ppt/notesSlides/notesSlide3.xml" Id="R9a1733bd7bdb46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b7bd8924fc4618" /><Relationship Type="http://schemas.openxmlformats.org/officeDocument/2006/relationships/notesSlide" Target="/ppt/notesSlides/notesSlide4.xml" Id="Rdedc8d39b59240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b6e8d9228b4ff7" /><Relationship Type="http://schemas.openxmlformats.org/officeDocument/2006/relationships/notesSlide" Target="/ppt/notesSlides/notesSlide5.xml" Id="Rc31563523db24d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9ce9bc63b40e7" /><Relationship Type="http://schemas.openxmlformats.org/officeDocument/2006/relationships/notesSlide" Target="/ppt/notesSlides/notesSlide6.xml" Id="Re69a9994362447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ac8377f3e4dfe" /><Relationship Type="http://schemas.openxmlformats.org/officeDocument/2006/relationships/notesSlide" Target="/ppt/notesSlides/notesSlide7.xml" Id="R2fd91c0ea47b40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2da0e8d72645c4" /><Relationship Type="http://schemas.openxmlformats.org/officeDocument/2006/relationships/chart" Target="/ppt/slides/charts/chart1.xml" Id="R0ea8fa028ffc472e" /><Relationship Type="http://schemas.openxmlformats.org/officeDocument/2006/relationships/notesSlide" Target="/ppt/notesSlides/notesSlide8.xml" Id="R9938dc2508b645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423c85a9441bb" /><Relationship Type="http://schemas.openxmlformats.org/officeDocument/2006/relationships/notesSlide" Target="/ppt/notesSlides/notesSlide9.xml" Id="Rbc8381cbb70c41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80406a748a4b30" /><Relationship Type="http://schemas.openxmlformats.org/officeDocument/2006/relationships/notesSlide" Target="/ppt/notesSlides/notesSlide10.xml" Id="Rcdd3bb07a3f843a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每日有效挂号（人次）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83E34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有效挂号</c:v>
          </c:tx>
          <c:spPr>
            <a:solidFill xmlns:a="http://schemas.openxmlformats.org/drawingml/2006/main">
              <a:srgbClr val="2E8C70"/>
            </a:solidFill>
          </c:spPr>
          <c:marker>
            <c:symbol val="none"/>
          </c:marker>
          <c:cat>
            <c:strRef>
              <c:f>'Chart Data'!$A$2:$A$8</c:f>
              <c:strCache>
                <c:ptCount val="7"/>
                <c:pt idx="0">
                  <c:v>10-23</c:v>
                </c:pt>
                <c:pt idx="1">
                  <c:v>10-24</c:v>
                </c:pt>
                <c:pt idx="2">
                  <c:v>10-25</c:v>
                </c:pt>
                <c:pt idx="3">
                  <c:v>10-26</c:v>
                </c:pt>
                <c:pt idx="4">
                  <c:v>10-27</c:v>
                </c:pt>
                <c:pt idx="5">
                  <c:v>10-28</c:v>
                </c:pt>
                <c:pt idx="6">
                  <c:v>10-29</c:v>
                </c:pt>
              </c:strCache>
            </c:strRef>
          </c:cat>
          <c:val>
            <c:numRef>
              <c:f>'Chart Data'!$B$2:$B$8</c:f>
              <c:numCache>
                <c:formatCode>0</c:formatCode>
                <c:ptCount val="7"/>
                <c:pt idx="0">
                  <c:v>3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  <c:pt idx="4">
                  <c:v>9</c:v>
                </c:pt>
                <c:pt idx="5">
                  <c:v>6</c:v>
                </c:pt>
                <c:pt idx="6">
                  <c:v>8</c:v>
                </c:pt>
              </c:numCache>
            </c:numRef>
          </c:val>
          <c:smooth val="0"/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E8C70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4D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4D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3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64CA9-055A-438C-8451-DAAE7C8C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9AC6AC"/>
                </a:solidFill>
              </a:defRPr>
            </a:defPPr>
            <a:lvl1pPr>
              <a:defRPr sz="2250" b="0">
                <a:solidFill>
                  <a:srgbClr val="9AC6AC"/>
                </a:solidFill>
              </a:defRPr>
            </a:lvl1pPr>
            <a:lvl2pPr>
              <a:defRPr sz="2250" b="0">
                <a:solidFill>
                  <a:srgbClr val="9AC6AC"/>
                </a:solidFill>
              </a:defRPr>
            </a:lvl2pPr>
            <a:lvl3pPr>
              <a:defRPr sz="2250" b="0">
                <a:solidFill>
                  <a:srgbClr val="9AC6AC"/>
                </a:solidFill>
              </a:defRPr>
            </a:lvl3pPr>
            <a:lvl4pPr>
              <a:defRPr sz="2250" b="0">
                <a:solidFill>
                  <a:srgbClr val="9AC6AC"/>
                </a:solidFill>
              </a:defRPr>
            </a:lvl4pPr>
            <a:lvl5pPr>
              <a:defRPr sz="2250" b="0">
                <a:solidFill>
                  <a:srgbClr val="9AC6AC"/>
                </a:solidFill>
              </a:defRPr>
            </a:lvl5pPr>
            <a:lvl6pPr>
              <a:defRPr sz="2250" b="0">
                <a:solidFill>
                  <a:srgbClr val="9AC6AC"/>
                </a:solidFill>
              </a:defRPr>
            </a:lvl6pPr>
            <a:lvl7pPr>
              <a:defRPr sz="2250" b="0">
                <a:solidFill>
                  <a:srgbClr val="9AC6AC"/>
                </a:solidFill>
              </a:defRPr>
            </a:lvl7pPr>
            <a:lvl8pPr>
              <a:defRPr sz="2250" b="0">
                <a:solidFill>
                  <a:srgbClr val="9AC6AC"/>
                </a:solidFill>
              </a:defRPr>
            </a:lvl8pPr>
            <a:lvl9pPr>
              <a:defRPr sz="2250" b="0">
                <a:solidFill>
                  <a:srgbClr val="9AC6AC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9AC6AC"/>
                </a:solidFill>
              </a:defRPr>
            </a:pPr>
            <a:r>
              <a:rPr sz="2250" b="0">
                <a:solidFill>
                  <a:srgbClr val="9AC6AC"/>
                </a:solidFill>
              </a:rPr>
              <a:t>和序 HIS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79929-9294-4AC5-A7B3-D1A18492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2F8EE"/>
                </a:solidFill>
              </a:defRPr>
            </a:defPPr>
            <a:lvl1pPr>
              <a:defRPr sz="4800" b="1">
                <a:solidFill>
                  <a:srgbClr val="F2F8EE"/>
                </a:solidFill>
              </a:defRPr>
            </a:lvl1pPr>
            <a:lvl2pPr>
              <a:defRPr sz="4800" b="1">
                <a:solidFill>
                  <a:srgbClr val="F2F8EE"/>
                </a:solidFill>
              </a:defRPr>
            </a:lvl2pPr>
            <a:lvl3pPr>
              <a:defRPr sz="4800" b="1">
                <a:solidFill>
                  <a:srgbClr val="F2F8EE"/>
                </a:solidFill>
              </a:defRPr>
            </a:lvl3pPr>
            <a:lvl4pPr>
              <a:defRPr sz="4800" b="1">
                <a:solidFill>
                  <a:srgbClr val="F2F8EE"/>
                </a:solidFill>
              </a:defRPr>
            </a:lvl4pPr>
            <a:lvl5pPr>
              <a:defRPr sz="4800" b="1">
                <a:solidFill>
                  <a:srgbClr val="F2F8EE"/>
                </a:solidFill>
              </a:defRPr>
            </a:lvl5pPr>
            <a:lvl6pPr>
              <a:defRPr sz="4800" b="1">
                <a:solidFill>
                  <a:srgbClr val="F2F8EE"/>
                </a:solidFill>
              </a:defRPr>
            </a:lvl6pPr>
            <a:lvl7pPr>
              <a:defRPr sz="4800" b="1">
                <a:solidFill>
                  <a:srgbClr val="F2F8EE"/>
                </a:solidFill>
              </a:defRPr>
            </a:lvl7pPr>
            <a:lvl8pPr>
              <a:defRPr sz="4800" b="1">
                <a:solidFill>
                  <a:srgbClr val="F2F8EE"/>
                </a:solidFill>
              </a:defRPr>
            </a:lvl8pPr>
            <a:lvl9pPr>
              <a:defRPr sz="4800" b="1">
                <a:solidFill>
                  <a:srgbClr val="F2F8EE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2F8EE"/>
                </a:solidFill>
              </a:defRPr>
            </a:pPr>
            <a:r>
              <a:rPr sz="4800" b="1">
                <a:solidFill>
                  <a:srgbClr val="F2F8EE"/>
                </a:solidFill>
              </a:rPr>
              <a:t>门诊业务闭环系统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48FF0-AC27-4300-A311-D829ECD7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B0C9B6"/>
                </a:solidFill>
              </a:defRPr>
            </a:defPPr>
            <a:lvl1pPr>
              <a:defRPr sz="2250" b="0">
                <a:solidFill>
                  <a:srgbClr val="B0C9B6"/>
                </a:solidFill>
              </a:defRPr>
            </a:lvl1pPr>
            <a:lvl2pPr>
              <a:defRPr sz="2250" b="0">
                <a:solidFill>
                  <a:srgbClr val="B0C9B6"/>
                </a:solidFill>
              </a:defRPr>
            </a:lvl2pPr>
            <a:lvl3pPr>
              <a:defRPr sz="2250" b="0">
                <a:solidFill>
                  <a:srgbClr val="B0C9B6"/>
                </a:solidFill>
              </a:defRPr>
            </a:lvl3pPr>
            <a:lvl4pPr>
              <a:defRPr sz="2250" b="0">
                <a:solidFill>
                  <a:srgbClr val="B0C9B6"/>
                </a:solidFill>
              </a:defRPr>
            </a:lvl4pPr>
            <a:lvl5pPr>
              <a:defRPr sz="2250" b="0">
                <a:solidFill>
                  <a:srgbClr val="B0C9B6"/>
                </a:solidFill>
              </a:defRPr>
            </a:lvl5pPr>
            <a:lvl6pPr>
              <a:defRPr sz="2250" b="0">
                <a:solidFill>
                  <a:srgbClr val="B0C9B6"/>
                </a:solidFill>
              </a:defRPr>
            </a:lvl6pPr>
            <a:lvl7pPr>
              <a:defRPr sz="2250" b="0">
                <a:solidFill>
                  <a:srgbClr val="B0C9B6"/>
                </a:solidFill>
              </a:defRPr>
            </a:lvl7pPr>
            <a:lvl8pPr>
              <a:defRPr sz="2250" b="0">
                <a:solidFill>
                  <a:srgbClr val="B0C9B6"/>
                </a:solidFill>
              </a:defRPr>
            </a:lvl8pPr>
            <a:lvl9pPr>
              <a:defRPr sz="2250" b="0">
                <a:solidFill>
                  <a:srgbClr val="B0C9B6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B0C9B6"/>
                </a:solidFill>
              </a:defRPr>
            </a:pPr>
            <a:r>
              <a:rPr sz="2250" b="0">
                <a:solidFill>
                  <a:srgbClr val="B0C9B6"/>
                </a:solidFill>
              </a:rPr>
              <a:t>基于《医院信息系统基本功能规范》的课程设计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8CA4C-0A71-43C0-A75A-C7828ADA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624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CBAA6"/>
                </a:solidFill>
              </a:defRPr>
            </a:defPPr>
            <a:lvl1pPr>
              <a:defRPr sz="1875" b="0">
                <a:solidFill>
                  <a:srgbClr val="9CBAA6"/>
                </a:solidFill>
              </a:defRPr>
            </a:lvl1pPr>
            <a:lvl2pPr>
              <a:defRPr sz="1875" b="0">
                <a:solidFill>
                  <a:srgbClr val="9CBAA6"/>
                </a:solidFill>
              </a:defRPr>
            </a:lvl2pPr>
            <a:lvl3pPr>
              <a:defRPr sz="1875" b="0">
                <a:solidFill>
                  <a:srgbClr val="9CBAA6"/>
                </a:solidFill>
              </a:defRPr>
            </a:lvl3pPr>
            <a:lvl4pPr>
              <a:defRPr sz="1875" b="0">
                <a:solidFill>
                  <a:srgbClr val="9CBAA6"/>
                </a:solidFill>
              </a:defRPr>
            </a:lvl4pPr>
            <a:lvl5pPr>
              <a:defRPr sz="1875" b="0">
                <a:solidFill>
                  <a:srgbClr val="9CBAA6"/>
                </a:solidFill>
              </a:defRPr>
            </a:lvl5pPr>
            <a:lvl6pPr>
              <a:defRPr sz="1875" b="0">
                <a:solidFill>
                  <a:srgbClr val="9CBAA6"/>
                </a:solidFill>
              </a:defRPr>
            </a:lvl6pPr>
            <a:lvl7pPr>
              <a:defRPr sz="1875" b="0">
                <a:solidFill>
                  <a:srgbClr val="9CBAA6"/>
                </a:solidFill>
              </a:defRPr>
            </a:lvl7pPr>
            <a:lvl8pPr>
              <a:defRPr sz="1875" b="0">
                <a:solidFill>
                  <a:srgbClr val="9CBAA6"/>
                </a:solidFill>
              </a:defRPr>
            </a:lvl8pPr>
            <a:lvl9pPr>
              <a:defRPr sz="1875" b="0">
                <a:solidFill>
                  <a:srgbClr val="9CBAA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9CBAA6"/>
                </a:solidFill>
              </a:defRPr>
            </a:pPr>
            <a:r>
              <a:rPr sz="1875" b="0">
                <a:solidFill>
                  <a:srgbClr val="9CBAA6"/>
                </a:solidFill>
              </a:rPr>
              <a:t>门诊医生工作站、门诊收费、门诊药房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65259-0844-46EA-B43B-AF24EC3C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1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85A692"/>
                </a:solidFill>
              </a:defRPr>
            </a:defPPr>
            <a:lvl1pPr>
              <a:defRPr sz="1575" b="0">
                <a:solidFill>
                  <a:srgbClr val="85A692"/>
                </a:solidFill>
              </a:defRPr>
            </a:lvl1pPr>
            <a:lvl2pPr>
              <a:defRPr sz="1575" b="0">
                <a:solidFill>
                  <a:srgbClr val="85A692"/>
                </a:solidFill>
              </a:defRPr>
            </a:lvl2pPr>
            <a:lvl3pPr>
              <a:defRPr sz="1575" b="0">
                <a:solidFill>
                  <a:srgbClr val="85A692"/>
                </a:solidFill>
              </a:defRPr>
            </a:lvl3pPr>
            <a:lvl4pPr>
              <a:defRPr sz="1575" b="0">
                <a:solidFill>
                  <a:srgbClr val="85A692"/>
                </a:solidFill>
              </a:defRPr>
            </a:lvl4pPr>
            <a:lvl5pPr>
              <a:defRPr sz="1575" b="0">
                <a:solidFill>
                  <a:srgbClr val="85A692"/>
                </a:solidFill>
              </a:defRPr>
            </a:lvl5pPr>
            <a:lvl6pPr>
              <a:defRPr sz="1575" b="0">
                <a:solidFill>
                  <a:srgbClr val="85A692"/>
                </a:solidFill>
              </a:defRPr>
            </a:lvl6pPr>
            <a:lvl7pPr>
              <a:defRPr sz="1575" b="0">
                <a:solidFill>
                  <a:srgbClr val="85A692"/>
                </a:solidFill>
              </a:defRPr>
            </a:lvl7pPr>
            <a:lvl8pPr>
              <a:defRPr sz="1575" b="0">
                <a:solidFill>
                  <a:srgbClr val="85A692"/>
                </a:solidFill>
              </a:defRPr>
            </a:lvl8pPr>
            <a:lvl9pPr>
              <a:defRPr sz="1575" b="0">
                <a:solidFill>
                  <a:srgbClr val="85A692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85A692"/>
                </a:solidFill>
              </a:defRPr>
            </a:pPr>
            <a:r>
              <a:rPr sz="1575" b="0">
                <a:solidFill>
                  <a:srgbClr val="85A692"/>
                </a:solidFill>
              </a:rPr>
              <a:t>课堂功能演示版 / 2026.10</a:t>
            </a:r>
          </a:p>
        </p:txBody>
      </p:sp>
    </p:spTree>
    <p:extLst>
      <p:ext uri="{BB962C8B-B14F-4D97-AF65-F5344CB8AC3E}">
        <p14:creationId xmlns:p14="http://schemas.microsoft.com/office/powerpoint/2010/main" val="757823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65084-4042-4BA5-A05C-4CC3D4B2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</a:defRPr>
            </a:defPPr>
            <a:lvl1pPr>
              <a:defRPr sz="3450" b="1">
                <a:solidFill>
                  <a:srgbClr val="183E34"/>
                </a:solidFill>
              </a:defRPr>
            </a:lvl1pPr>
            <a:lvl2pPr>
              <a:defRPr sz="3450" b="1">
                <a:solidFill>
                  <a:srgbClr val="183E34"/>
                </a:solidFill>
              </a:defRPr>
            </a:lvl2pPr>
            <a:lvl3pPr>
              <a:defRPr sz="3450" b="1">
                <a:solidFill>
                  <a:srgbClr val="183E34"/>
                </a:solidFill>
              </a:defRPr>
            </a:lvl3pPr>
            <a:lvl4pPr>
              <a:defRPr sz="3450" b="1">
                <a:solidFill>
                  <a:srgbClr val="183E34"/>
                </a:solidFill>
              </a:defRPr>
            </a:lvl4pPr>
            <a:lvl5pPr>
              <a:defRPr sz="3450" b="1">
                <a:solidFill>
                  <a:srgbClr val="183E34"/>
                </a:solidFill>
              </a:defRPr>
            </a:lvl5pPr>
            <a:lvl6pPr>
              <a:defRPr sz="3450" b="1">
                <a:solidFill>
                  <a:srgbClr val="183E34"/>
                </a:solidFill>
              </a:defRPr>
            </a:lvl6pPr>
            <a:lvl7pPr>
              <a:defRPr sz="3450" b="1">
                <a:solidFill>
                  <a:srgbClr val="183E34"/>
                </a:solidFill>
              </a:defRPr>
            </a:lvl7pPr>
            <a:lvl8pPr>
              <a:defRPr sz="3450" b="1">
                <a:solidFill>
                  <a:srgbClr val="183E34"/>
                </a:solidFill>
              </a:defRPr>
            </a:lvl8pPr>
            <a:lvl9pPr>
              <a:defRPr sz="3450" b="1">
                <a:solidFill>
                  <a:srgbClr val="183E3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</a:defRPr>
            </a:pPr>
            <a:r>
              <a:rPr sz="3450" b="1">
                <a:solidFill>
                  <a:srgbClr val="183E34"/>
                </a:solidFill>
              </a:rPr>
              <a:t>选题范围与功能边界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01F18-DD3C-47CA-9F92-C0C6F726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6CBD7-E535-4952-B896-116E46E9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BD32A-C57B-427B-B2E1-BF6FEA19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416A55"/>
                </a:solidFill>
              </a:defRPr>
            </a:defPPr>
            <a:lvl1pPr>
              <a:defRPr sz="2250" b="1">
                <a:solidFill>
                  <a:srgbClr val="416A55"/>
                </a:solidFill>
              </a:defRPr>
            </a:lvl1pPr>
            <a:lvl2pPr>
              <a:defRPr sz="2250" b="1">
                <a:solidFill>
                  <a:srgbClr val="416A55"/>
                </a:solidFill>
              </a:defRPr>
            </a:lvl2pPr>
            <a:lvl3pPr>
              <a:defRPr sz="2250" b="1">
                <a:solidFill>
                  <a:srgbClr val="416A55"/>
                </a:solidFill>
              </a:defRPr>
            </a:lvl3pPr>
            <a:lvl4pPr>
              <a:defRPr sz="2250" b="1">
                <a:solidFill>
                  <a:srgbClr val="416A55"/>
                </a:solidFill>
              </a:defRPr>
            </a:lvl4pPr>
            <a:lvl5pPr>
              <a:defRPr sz="2250" b="1">
                <a:solidFill>
                  <a:srgbClr val="416A55"/>
                </a:solidFill>
              </a:defRPr>
            </a:lvl5pPr>
            <a:lvl6pPr>
              <a:defRPr sz="2250" b="1">
                <a:solidFill>
                  <a:srgbClr val="416A55"/>
                </a:solidFill>
              </a:defRPr>
            </a:lvl6pPr>
            <a:lvl7pPr>
              <a:defRPr sz="2250" b="1">
                <a:solidFill>
                  <a:srgbClr val="416A55"/>
                </a:solidFill>
              </a:defRPr>
            </a:lvl7pPr>
            <a:lvl8pPr>
              <a:defRPr sz="2250" b="1">
                <a:solidFill>
                  <a:srgbClr val="416A55"/>
                </a:solidFill>
              </a:defRPr>
            </a:lvl8pPr>
            <a:lvl9pPr>
              <a:defRPr sz="2250" b="1">
                <a:solidFill>
                  <a:srgbClr val="416A5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416A55"/>
                </a:solidFill>
              </a:defRPr>
            </a:pPr>
            <a:r>
              <a:rPr sz="2250" b="1">
                <a:solidFill>
                  <a:srgbClr val="416A55"/>
                </a:solidFill>
              </a:rPr>
              <a:t>选定三个门诊分系统的部分功能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D76C9-C8F2-44B9-B291-C956B564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4E3F"/>
                </a:solidFill>
              </a:defRPr>
            </a:defPPr>
            <a:lvl1pPr>
              <a:defRPr sz="2175" b="1">
                <a:solidFill>
                  <a:srgbClr val="254E3F"/>
                </a:solidFill>
              </a:defRPr>
            </a:lvl1pPr>
            <a:lvl2pPr>
              <a:defRPr sz="2175" b="1">
                <a:solidFill>
                  <a:srgbClr val="254E3F"/>
                </a:solidFill>
              </a:defRPr>
            </a:lvl2pPr>
            <a:lvl3pPr>
              <a:defRPr sz="2175" b="1">
                <a:solidFill>
                  <a:srgbClr val="254E3F"/>
                </a:solidFill>
              </a:defRPr>
            </a:lvl3pPr>
            <a:lvl4pPr>
              <a:defRPr sz="2175" b="1">
                <a:solidFill>
                  <a:srgbClr val="254E3F"/>
                </a:solidFill>
              </a:defRPr>
            </a:lvl4pPr>
            <a:lvl5pPr>
              <a:defRPr sz="2175" b="1">
                <a:solidFill>
                  <a:srgbClr val="254E3F"/>
                </a:solidFill>
              </a:defRPr>
            </a:lvl5pPr>
            <a:lvl6pPr>
              <a:defRPr sz="2175" b="1">
                <a:solidFill>
                  <a:srgbClr val="254E3F"/>
                </a:solidFill>
              </a:defRPr>
            </a:lvl6pPr>
            <a:lvl7pPr>
              <a:defRPr sz="2175" b="1">
                <a:solidFill>
                  <a:srgbClr val="254E3F"/>
                </a:solidFill>
              </a:defRPr>
            </a:lvl7pPr>
            <a:lvl8pPr>
              <a:defRPr sz="2175" b="1">
                <a:solidFill>
                  <a:srgbClr val="254E3F"/>
                </a:solidFill>
              </a:defRPr>
            </a:lvl8pPr>
            <a:lvl9pPr>
              <a:defRPr sz="2175" b="1">
                <a:solidFill>
                  <a:srgbClr val="254E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54E3F"/>
                </a:solidFill>
              </a:defRPr>
            </a:pPr>
            <a:r>
              <a:rPr sz="2175" b="1">
                <a:solidFill>
                  <a:srgbClr val="254E3F"/>
                </a:solidFill>
              </a:rPr>
              <a:t>门诊医生工作站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9814D-70D7-4697-812A-77F01551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接诊看板、诊疗记录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常用诊断、多药处方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患者就诊时间线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F5E8C-A0DE-4797-8BB9-114E7071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288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4E3F"/>
                </a:solidFill>
              </a:defRPr>
            </a:defPPr>
            <a:lvl1pPr>
              <a:defRPr sz="2175" b="1">
                <a:solidFill>
                  <a:srgbClr val="254E3F"/>
                </a:solidFill>
              </a:defRPr>
            </a:lvl1pPr>
            <a:lvl2pPr>
              <a:defRPr sz="2175" b="1">
                <a:solidFill>
                  <a:srgbClr val="254E3F"/>
                </a:solidFill>
              </a:defRPr>
            </a:lvl2pPr>
            <a:lvl3pPr>
              <a:defRPr sz="2175" b="1">
                <a:solidFill>
                  <a:srgbClr val="254E3F"/>
                </a:solidFill>
              </a:defRPr>
            </a:lvl3pPr>
            <a:lvl4pPr>
              <a:defRPr sz="2175" b="1">
                <a:solidFill>
                  <a:srgbClr val="254E3F"/>
                </a:solidFill>
              </a:defRPr>
            </a:lvl4pPr>
            <a:lvl5pPr>
              <a:defRPr sz="2175" b="1">
                <a:solidFill>
                  <a:srgbClr val="254E3F"/>
                </a:solidFill>
              </a:defRPr>
            </a:lvl5pPr>
            <a:lvl6pPr>
              <a:defRPr sz="2175" b="1">
                <a:solidFill>
                  <a:srgbClr val="254E3F"/>
                </a:solidFill>
              </a:defRPr>
            </a:lvl6pPr>
            <a:lvl7pPr>
              <a:defRPr sz="2175" b="1">
                <a:solidFill>
                  <a:srgbClr val="254E3F"/>
                </a:solidFill>
              </a:defRPr>
            </a:lvl7pPr>
            <a:lvl8pPr>
              <a:defRPr sz="2175" b="1">
                <a:solidFill>
                  <a:srgbClr val="254E3F"/>
                </a:solidFill>
              </a:defRPr>
            </a:lvl8pPr>
            <a:lvl9pPr>
              <a:defRPr sz="2175" b="1">
                <a:solidFill>
                  <a:srgbClr val="254E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54E3F"/>
                </a:solidFill>
              </a:defRPr>
            </a:pPr>
            <a:r>
              <a:rPr sz="2175" b="1">
                <a:solidFill>
                  <a:srgbClr val="254E3F"/>
                </a:solidFill>
              </a:rPr>
              <a:t>门诊收费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38112-057E-4608-8D61-107CEC45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289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收费方式、收费记录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未发药退费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处方与凭证打印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472C5-7EEF-4789-94F0-946AD89D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54E3F"/>
                </a:solidFill>
              </a:defRPr>
            </a:defPPr>
            <a:lvl1pPr>
              <a:defRPr sz="2175" b="1">
                <a:solidFill>
                  <a:srgbClr val="254E3F"/>
                </a:solidFill>
              </a:defRPr>
            </a:lvl1pPr>
            <a:lvl2pPr>
              <a:defRPr sz="2175" b="1">
                <a:solidFill>
                  <a:srgbClr val="254E3F"/>
                </a:solidFill>
              </a:defRPr>
            </a:lvl2pPr>
            <a:lvl3pPr>
              <a:defRPr sz="2175" b="1">
                <a:solidFill>
                  <a:srgbClr val="254E3F"/>
                </a:solidFill>
              </a:defRPr>
            </a:lvl3pPr>
            <a:lvl4pPr>
              <a:defRPr sz="2175" b="1">
                <a:solidFill>
                  <a:srgbClr val="254E3F"/>
                </a:solidFill>
              </a:defRPr>
            </a:lvl4pPr>
            <a:lvl5pPr>
              <a:defRPr sz="2175" b="1">
                <a:solidFill>
                  <a:srgbClr val="254E3F"/>
                </a:solidFill>
              </a:defRPr>
            </a:lvl5pPr>
            <a:lvl6pPr>
              <a:defRPr sz="2175" b="1">
                <a:solidFill>
                  <a:srgbClr val="254E3F"/>
                </a:solidFill>
              </a:defRPr>
            </a:lvl6pPr>
            <a:lvl7pPr>
              <a:defRPr sz="2175" b="1">
                <a:solidFill>
                  <a:srgbClr val="254E3F"/>
                </a:solidFill>
              </a:defRPr>
            </a:lvl7pPr>
            <a:lvl8pPr>
              <a:defRPr sz="2175" b="1">
                <a:solidFill>
                  <a:srgbClr val="254E3F"/>
                </a:solidFill>
              </a:defRPr>
            </a:lvl8pPr>
            <a:lvl9pPr>
              <a:defRPr sz="2175" b="1">
                <a:solidFill>
                  <a:srgbClr val="254E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54E3F"/>
                </a:solidFill>
              </a:defRPr>
            </a:pPr>
            <a:r>
              <a:rPr sz="2175" b="1">
                <a:solidFill>
                  <a:srgbClr val="254E3F"/>
                </a:solidFill>
              </a:rPr>
              <a:t>门诊药房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8CBE1-BD3D-4E25-97AD-E7223CEB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289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批次入库、效期预警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出入库流水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核验已收费处方发药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FBC31-6C08-46B5-AE1B-410CB5D2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B8373"/>
                </a:solidFill>
              </a:defRPr>
            </a:defPPr>
            <a:lvl1pPr>
              <a:defRPr sz="1950" b="0">
                <a:solidFill>
                  <a:srgbClr val="6B8373"/>
                </a:solidFill>
              </a:defRPr>
            </a:lvl1pPr>
            <a:lvl2pPr>
              <a:defRPr sz="1950" b="0">
                <a:solidFill>
                  <a:srgbClr val="6B8373"/>
                </a:solidFill>
              </a:defRPr>
            </a:lvl2pPr>
            <a:lvl3pPr>
              <a:defRPr sz="1950" b="0">
                <a:solidFill>
                  <a:srgbClr val="6B8373"/>
                </a:solidFill>
              </a:defRPr>
            </a:lvl3pPr>
            <a:lvl4pPr>
              <a:defRPr sz="1950" b="0">
                <a:solidFill>
                  <a:srgbClr val="6B8373"/>
                </a:solidFill>
              </a:defRPr>
            </a:lvl4pPr>
            <a:lvl5pPr>
              <a:defRPr sz="1950" b="0">
                <a:solidFill>
                  <a:srgbClr val="6B8373"/>
                </a:solidFill>
              </a:defRPr>
            </a:lvl5pPr>
            <a:lvl6pPr>
              <a:defRPr sz="1950" b="0">
                <a:solidFill>
                  <a:srgbClr val="6B8373"/>
                </a:solidFill>
              </a:defRPr>
            </a:lvl6pPr>
            <a:lvl7pPr>
              <a:defRPr sz="1950" b="0">
                <a:solidFill>
                  <a:srgbClr val="6B8373"/>
                </a:solidFill>
              </a:defRPr>
            </a:lvl7pPr>
            <a:lvl8pPr>
              <a:defRPr sz="1950" b="0">
                <a:solidFill>
                  <a:srgbClr val="6B8373"/>
                </a:solidFill>
              </a:defRPr>
            </a:lvl8pPr>
            <a:lvl9pPr>
              <a:defRPr sz="1950" b="0">
                <a:solidFill>
                  <a:srgbClr val="6B8373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B8373"/>
                </a:solidFill>
              </a:defRPr>
            </a:pPr>
            <a:r>
              <a:rPr sz="1950" b="0">
                <a:solidFill>
                  <a:srgbClr val="6B8373"/>
                </a:solidFill>
              </a:rPr>
              <a:t>支撑功能：患者档案、排班挂号、经营图表、导入与审计</a:t>
            </a:r>
          </a:p>
        </p:txBody>
      </p:sp>
    </p:spTree>
    <p:extLst>
      <p:ext uri="{BB962C8B-B14F-4D97-AF65-F5344CB8AC3E}">
        <p14:creationId xmlns:p14="http://schemas.microsoft.com/office/powerpoint/2010/main" val="1236138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55A72-BE2B-4811-8CD3-FD8552D6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</a:defRPr>
            </a:defPPr>
            <a:lvl1pPr>
              <a:defRPr sz="3450" b="1">
                <a:solidFill>
                  <a:srgbClr val="183E34"/>
                </a:solidFill>
              </a:defRPr>
            </a:lvl1pPr>
            <a:lvl2pPr>
              <a:defRPr sz="3450" b="1">
                <a:solidFill>
                  <a:srgbClr val="183E34"/>
                </a:solidFill>
              </a:defRPr>
            </a:lvl2pPr>
            <a:lvl3pPr>
              <a:defRPr sz="3450" b="1">
                <a:solidFill>
                  <a:srgbClr val="183E34"/>
                </a:solidFill>
              </a:defRPr>
            </a:lvl3pPr>
            <a:lvl4pPr>
              <a:defRPr sz="3450" b="1">
                <a:solidFill>
                  <a:srgbClr val="183E34"/>
                </a:solidFill>
              </a:defRPr>
            </a:lvl4pPr>
            <a:lvl5pPr>
              <a:defRPr sz="3450" b="1">
                <a:solidFill>
                  <a:srgbClr val="183E34"/>
                </a:solidFill>
              </a:defRPr>
            </a:lvl5pPr>
            <a:lvl6pPr>
              <a:defRPr sz="3450" b="1">
                <a:solidFill>
                  <a:srgbClr val="183E34"/>
                </a:solidFill>
              </a:defRPr>
            </a:lvl6pPr>
            <a:lvl7pPr>
              <a:defRPr sz="3450" b="1">
                <a:solidFill>
                  <a:srgbClr val="183E34"/>
                </a:solidFill>
              </a:defRPr>
            </a:lvl7pPr>
            <a:lvl8pPr>
              <a:defRPr sz="3450" b="1">
                <a:solidFill>
                  <a:srgbClr val="183E34"/>
                </a:solidFill>
              </a:defRPr>
            </a:lvl8pPr>
            <a:lvl9pPr>
              <a:defRPr sz="3450" b="1">
                <a:solidFill>
                  <a:srgbClr val="183E34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</a:defRPr>
            </a:pPr>
            <a:r>
              <a:rPr sz="3450" b="1">
                <a:solidFill>
                  <a:srgbClr val="183E34"/>
                </a:solidFill>
              </a:rPr>
              <a:t>一次门诊的现场操作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FBBFB-4722-4254-87BE-772724A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663F5-798B-42D7-B3DF-C9138D53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</a:defRPr>
            </a:defPPr>
            <a:lvl1pPr>
              <a:defRPr sz="1275" b="0">
                <a:solidFill>
                  <a:srgbClr val="8B9D92"/>
                </a:solidFill>
              </a:defRPr>
            </a:lvl1pPr>
            <a:lvl2pPr>
              <a:defRPr sz="1275" b="0">
                <a:solidFill>
                  <a:srgbClr val="8B9D92"/>
                </a:solidFill>
              </a:defRPr>
            </a:lvl2pPr>
            <a:lvl3pPr>
              <a:defRPr sz="1275" b="0">
                <a:solidFill>
                  <a:srgbClr val="8B9D92"/>
                </a:solidFill>
              </a:defRPr>
            </a:lvl3pPr>
            <a:lvl4pPr>
              <a:defRPr sz="1275" b="0">
                <a:solidFill>
                  <a:srgbClr val="8B9D92"/>
                </a:solidFill>
              </a:defRPr>
            </a:lvl4pPr>
            <a:lvl5pPr>
              <a:defRPr sz="1275" b="0">
                <a:solidFill>
                  <a:srgbClr val="8B9D92"/>
                </a:solidFill>
              </a:defRPr>
            </a:lvl5pPr>
            <a:lvl6pPr>
              <a:defRPr sz="1275" b="0">
                <a:solidFill>
                  <a:srgbClr val="8B9D92"/>
                </a:solidFill>
              </a:defRPr>
            </a:lvl6pPr>
            <a:lvl7pPr>
              <a:defRPr sz="1275" b="0">
                <a:solidFill>
                  <a:srgbClr val="8B9D92"/>
                </a:solidFill>
              </a:defRPr>
            </a:lvl7pPr>
            <a:lvl8pPr>
              <a:defRPr sz="1275" b="0">
                <a:solidFill>
                  <a:srgbClr val="8B9D92"/>
                </a:solidFill>
              </a:defRPr>
            </a:lvl8pPr>
            <a:lvl9pPr>
              <a:defRPr sz="1275" b="0">
                <a:solidFill>
                  <a:srgbClr val="8B9D92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</a:defRPr>
            </a:pPr>
            <a:r>
              <a:rPr sz="1275" b="0">
                <a:solidFill>
                  <a:srgbClr val="8B9D92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4F666-2360-4C86-82C6-1525E2F5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4F3F"/>
                </a:solidFill>
              </a:defRPr>
            </a:defPPr>
            <a:lvl1pPr>
              <a:defRPr sz="2175" b="1">
                <a:solidFill>
                  <a:srgbClr val="244F3F"/>
                </a:solidFill>
              </a:defRPr>
            </a:lvl1pPr>
            <a:lvl2pPr>
              <a:defRPr sz="2175" b="1">
                <a:solidFill>
                  <a:srgbClr val="244F3F"/>
                </a:solidFill>
              </a:defRPr>
            </a:lvl2pPr>
            <a:lvl3pPr>
              <a:defRPr sz="2175" b="1">
                <a:solidFill>
                  <a:srgbClr val="244F3F"/>
                </a:solidFill>
              </a:defRPr>
            </a:lvl3pPr>
            <a:lvl4pPr>
              <a:defRPr sz="2175" b="1">
                <a:solidFill>
                  <a:srgbClr val="244F3F"/>
                </a:solidFill>
              </a:defRPr>
            </a:lvl4pPr>
            <a:lvl5pPr>
              <a:defRPr sz="2175" b="1">
                <a:solidFill>
                  <a:srgbClr val="244F3F"/>
                </a:solidFill>
              </a:defRPr>
            </a:lvl5pPr>
            <a:lvl6pPr>
              <a:defRPr sz="2175" b="1">
                <a:solidFill>
                  <a:srgbClr val="244F3F"/>
                </a:solidFill>
              </a:defRPr>
            </a:lvl6pPr>
            <a:lvl7pPr>
              <a:defRPr sz="2175" b="1">
                <a:solidFill>
                  <a:srgbClr val="244F3F"/>
                </a:solidFill>
              </a:defRPr>
            </a:lvl7pPr>
            <a:lvl8pPr>
              <a:defRPr sz="2175" b="1">
                <a:solidFill>
                  <a:srgbClr val="244F3F"/>
                </a:solidFill>
              </a:defRPr>
            </a:lvl8pPr>
            <a:lvl9pPr>
              <a:defRPr sz="2175" b="1">
                <a:solidFill>
                  <a:srgbClr val="244F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4F3F"/>
                </a:solidFill>
              </a:defRPr>
            </a:pPr>
            <a:r>
              <a:rPr sz="2175" b="1">
                <a:solidFill>
                  <a:srgbClr val="244F3F"/>
                </a:solidFill>
              </a:rPr>
              <a:t>01 挂号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75CA5-D06E-492A-8557-3454B472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选择患者与排班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生成排队号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946AC-6CCB-4493-B568-32678F2B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28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4F3F"/>
                </a:solidFill>
              </a:defRPr>
            </a:defPPr>
            <a:lvl1pPr>
              <a:defRPr sz="2175" b="1">
                <a:solidFill>
                  <a:srgbClr val="244F3F"/>
                </a:solidFill>
              </a:defRPr>
            </a:lvl1pPr>
            <a:lvl2pPr>
              <a:defRPr sz="2175" b="1">
                <a:solidFill>
                  <a:srgbClr val="244F3F"/>
                </a:solidFill>
              </a:defRPr>
            </a:lvl2pPr>
            <a:lvl3pPr>
              <a:defRPr sz="2175" b="1">
                <a:solidFill>
                  <a:srgbClr val="244F3F"/>
                </a:solidFill>
              </a:defRPr>
            </a:lvl3pPr>
            <a:lvl4pPr>
              <a:defRPr sz="2175" b="1">
                <a:solidFill>
                  <a:srgbClr val="244F3F"/>
                </a:solidFill>
              </a:defRPr>
            </a:lvl4pPr>
            <a:lvl5pPr>
              <a:defRPr sz="2175" b="1">
                <a:solidFill>
                  <a:srgbClr val="244F3F"/>
                </a:solidFill>
              </a:defRPr>
            </a:lvl5pPr>
            <a:lvl6pPr>
              <a:defRPr sz="2175" b="1">
                <a:solidFill>
                  <a:srgbClr val="244F3F"/>
                </a:solidFill>
              </a:defRPr>
            </a:lvl6pPr>
            <a:lvl7pPr>
              <a:defRPr sz="2175" b="1">
                <a:solidFill>
                  <a:srgbClr val="244F3F"/>
                </a:solidFill>
              </a:defRPr>
            </a:lvl7pPr>
            <a:lvl8pPr>
              <a:defRPr sz="2175" b="1">
                <a:solidFill>
                  <a:srgbClr val="244F3F"/>
                </a:solidFill>
              </a:defRPr>
            </a:lvl8pPr>
            <a:lvl9pPr>
              <a:defRPr sz="2175" b="1">
                <a:solidFill>
                  <a:srgbClr val="244F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4F3F"/>
                </a:solidFill>
              </a:defRPr>
            </a:pPr>
            <a:r>
              <a:rPr sz="2175" b="1">
                <a:solidFill>
                  <a:srgbClr val="244F3F"/>
                </a:solidFill>
              </a:rPr>
              <a:t>02 开方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D4D3A-9867-4191-B00B-C60D7C14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337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保存诊疗记录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诊断与多药处方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FEE3D-DC36-4DB1-AB85-D1A3844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28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4F3F"/>
                </a:solidFill>
              </a:defRPr>
            </a:defPPr>
            <a:lvl1pPr>
              <a:defRPr sz="2175" b="1">
                <a:solidFill>
                  <a:srgbClr val="244F3F"/>
                </a:solidFill>
              </a:defRPr>
            </a:lvl1pPr>
            <a:lvl2pPr>
              <a:defRPr sz="2175" b="1">
                <a:solidFill>
                  <a:srgbClr val="244F3F"/>
                </a:solidFill>
              </a:defRPr>
            </a:lvl2pPr>
            <a:lvl3pPr>
              <a:defRPr sz="2175" b="1">
                <a:solidFill>
                  <a:srgbClr val="244F3F"/>
                </a:solidFill>
              </a:defRPr>
            </a:lvl3pPr>
            <a:lvl4pPr>
              <a:defRPr sz="2175" b="1">
                <a:solidFill>
                  <a:srgbClr val="244F3F"/>
                </a:solidFill>
              </a:defRPr>
            </a:lvl4pPr>
            <a:lvl5pPr>
              <a:defRPr sz="2175" b="1">
                <a:solidFill>
                  <a:srgbClr val="244F3F"/>
                </a:solidFill>
              </a:defRPr>
            </a:lvl5pPr>
            <a:lvl6pPr>
              <a:defRPr sz="2175" b="1">
                <a:solidFill>
                  <a:srgbClr val="244F3F"/>
                </a:solidFill>
              </a:defRPr>
            </a:lvl6pPr>
            <a:lvl7pPr>
              <a:defRPr sz="2175" b="1">
                <a:solidFill>
                  <a:srgbClr val="244F3F"/>
                </a:solidFill>
              </a:defRPr>
            </a:lvl7pPr>
            <a:lvl8pPr>
              <a:defRPr sz="2175" b="1">
                <a:solidFill>
                  <a:srgbClr val="244F3F"/>
                </a:solidFill>
              </a:defRPr>
            </a:lvl8pPr>
            <a:lvl9pPr>
              <a:defRPr sz="2175" b="1">
                <a:solidFill>
                  <a:srgbClr val="244F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4F3F"/>
                </a:solidFill>
              </a:defRPr>
            </a:pPr>
            <a:r>
              <a:rPr sz="2175" b="1">
                <a:solidFill>
                  <a:srgbClr val="244F3F"/>
                </a:solidFill>
              </a:rPr>
              <a:t>03 收费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604D3-1353-4D95-8B46-155DFAE4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337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核对费用与方式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生成可打印凭证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2ABFB-5766-4844-B6D2-13810ED7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28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4F3F"/>
                </a:solidFill>
              </a:defRPr>
            </a:defPPr>
            <a:lvl1pPr>
              <a:defRPr sz="2175" b="1">
                <a:solidFill>
                  <a:srgbClr val="244F3F"/>
                </a:solidFill>
              </a:defRPr>
            </a:lvl1pPr>
            <a:lvl2pPr>
              <a:defRPr sz="2175" b="1">
                <a:solidFill>
                  <a:srgbClr val="244F3F"/>
                </a:solidFill>
              </a:defRPr>
            </a:lvl2pPr>
            <a:lvl3pPr>
              <a:defRPr sz="2175" b="1">
                <a:solidFill>
                  <a:srgbClr val="244F3F"/>
                </a:solidFill>
              </a:defRPr>
            </a:lvl3pPr>
            <a:lvl4pPr>
              <a:defRPr sz="2175" b="1">
                <a:solidFill>
                  <a:srgbClr val="244F3F"/>
                </a:solidFill>
              </a:defRPr>
            </a:lvl4pPr>
            <a:lvl5pPr>
              <a:defRPr sz="2175" b="1">
                <a:solidFill>
                  <a:srgbClr val="244F3F"/>
                </a:solidFill>
              </a:defRPr>
            </a:lvl5pPr>
            <a:lvl6pPr>
              <a:defRPr sz="2175" b="1">
                <a:solidFill>
                  <a:srgbClr val="244F3F"/>
                </a:solidFill>
              </a:defRPr>
            </a:lvl6pPr>
            <a:lvl7pPr>
              <a:defRPr sz="2175" b="1">
                <a:solidFill>
                  <a:srgbClr val="244F3F"/>
                </a:solidFill>
              </a:defRPr>
            </a:lvl7pPr>
            <a:lvl8pPr>
              <a:defRPr sz="2175" b="1">
                <a:solidFill>
                  <a:srgbClr val="244F3F"/>
                </a:solidFill>
              </a:defRPr>
            </a:lvl8pPr>
            <a:lvl9pPr>
              <a:defRPr sz="2175" b="1">
                <a:solidFill>
                  <a:srgbClr val="244F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4F3F"/>
                </a:solidFill>
              </a:defRPr>
            </a:pPr>
            <a:r>
              <a:rPr sz="2175" b="1">
                <a:solidFill>
                  <a:srgbClr val="244F3F"/>
                </a:solidFill>
              </a:rPr>
              <a:t>04 发药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AA945-7815-4FE5-AF88-BF18A4D2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337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核对药品明细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确认发药完成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B5DCD-BC97-4C57-A0EB-7887CB51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28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44F3F"/>
                </a:solidFill>
              </a:defRPr>
            </a:defPPr>
            <a:lvl1pPr>
              <a:defRPr sz="2175" b="1">
                <a:solidFill>
                  <a:srgbClr val="244F3F"/>
                </a:solidFill>
              </a:defRPr>
            </a:lvl1pPr>
            <a:lvl2pPr>
              <a:defRPr sz="2175" b="1">
                <a:solidFill>
                  <a:srgbClr val="244F3F"/>
                </a:solidFill>
              </a:defRPr>
            </a:lvl2pPr>
            <a:lvl3pPr>
              <a:defRPr sz="2175" b="1">
                <a:solidFill>
                  <a:srgbClr val="244F3F"/>
                </a:solidFill>
              </a:defRPr>
            </a:lvl3pPr>
            <a:lvl4pPr>
              <a:defRPr sz="2175" b="1">
                <a:solidFill>
                  <a:srgbClr val="244F3F"/>
                </a:solidFill>
              </a:defRPr>
            </a:lvl4pPr>
            <a:lvl5pPr>
              <a:defRPr sz="2175" b="1">
                <a:solidFill>
                  <a:srgbClr val="244F3F"/>
                </a:solidFill>
              </a:defRPr>
            </a:lvl5pPr>
            <a:lvl6pPr>
              <a:defRPr sz="2175" b="1">
                <a:solidFill>
                  <a:srgbClr val="244F3F"/>
                </a:solidFill>
              </a:defRPr>
            </a:lvl6pPr>
            <a:lvl7pPr>
              <a:defRPr sz="2175" b="1">
                <a:solidFill>
                  <a:srgbClr val="244F3F"/>
                </a:solidFill>
              </a:defRPr>
            </a:lvl7pPr>
            <a:lvl8pPr>
              <a:defRPr sz="2175" b="1">
                <a:solidFill>
                  <a:srgbClr val="244F3F"/>
                </a:solidFill>
              </a:defRPr>
            </a:lvl8pPr>
            <a:lvl9pPr>
              <a:defRPr sz="2175" b="1">
                <a:solidFill>
                  <a:srgbClr val="244F3F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4F3F"/>
                </a:solidFill>
              </a:defRPr>
            </a:pPr>
            <a:r>
              <a:rPr sz="2175" b="1">
                <a:solidFill>
                  <a:srgbClr val="244F3F"/>
                </a:solidFill>
              </a:rPr>
              <a:t>05 追溯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3815D-F786-458E-8E83-080E2B59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33750"/>
            <a:ext cx="200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8534B"/>
                </a:solidFill>
              </a:defRPr>
            </a:defPPr>
            <a:lvl1pPr>
              <a:defRPr sz="1875" b="0">
                <a:solidFill>
                  <a:srgbClr val="38534B"/>
                </a:solidFill>
              </a:defRPr>
            </a:lvl1pPr>
            <a:lvl2pPr>
              <a:defRPr sz="1875" b="0">
                <a:solidFill>
                  <a:srgbClr val="38534B"/>
                </a:solidFill>
              </a:defRPr>
            </a:lvl2pPr>
            <a:lvl3pPr>
              <a:defRPr sz="1875" b="0">
                <a:solidFill>
                  <a:srgbClr val="38534B"/>
                </a:solidFill>
              </a:defRPr>
            </a:lvl3pPr>
            <a:lvl4pPr>
              <a:defRPr sz="1875" b="0">
                <a:solidFill>
                  <a:srgbClr val="38534B"/>
                </a:solidFill>
              </a:defRPr>
            </a:lvl4pPr>
            <a:lvl5pPr>
              <a:defRPr sz="1875" b="0">
                <a:solidFill>
                  <a:srgbClr val="38534B"/>
                </a:solidFill>
              </a:defRPr>
            </a:lvl5pPr>
            <a:lvl6pPr>
              <a:defRPr sz="1875" b="0">
                <a:solidFill>
                  <a:srgbClr val="38534B"/>
                </a:solidFill>
              </a:defRPr>
            </a:lvl6pPr>
            <a:lvl7pPr>
              <a:defRPr sz="1875" b="0">
                <a:solidFill>
                  <a:srgbClr val="38534B"/>
                </a:solidFill>
              </a:defRPr>
            </a:lvl7pPr>
            <a:lvl8pPr>
              <a:defRPr sz="1875" b="0">
                <a:solidFill>
                  <a:srgbClr val="38534B"/>
                </a:solidFill>
              </a:defRPr>
            </a:lvl8pPr>
            <a:lvl9pPr>
              <a:defRPr sz="1875" b="0">
                <a:solidFill>
                  <a:srgbClr val="38534B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回看患者时间线</a:t>
            </a:r>
          </a:p>
          <a:p xmlns:a="http://schemas.openxmlformats.org/drawingml/2006/main">
            <a:pPr>
              <a:defRPr sz="1875" b="0">
                <a:solidFill>
                  <a:srgbClr val="38534B"/>
                </a:solidFill>
              </a:defRPr>
            </a:pPr>
            <a:r>
              <a:rPr sz="1875" b="0">
                <a:solidFill>
                  <a:srgbClr val="38534B"/>
                </a:solidFill>
              </a:rPr>
              <a:t>查看经营图表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32613-4A6C-48A5-AC61-E9D07C48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567B65"/>
                </a:solidFill>
              </a:defRPr>
            </a:defPPr>
            <a:lvl1pPr>
              <a:defRPr sz="2250" b="0">
                <a:solidFill>
                  <a:srgbClr val="567B65"/>
                </a:solidFill>
              </a:defRPr>
            </a:lvl1pPr>
            <a:lvl2pPr>
              <a:defRPr sz="2250" b="0">
                <a:solidFill>
                  <a:srgbClr val="567B65"/>
                </a:solidFill>
              </a:defRPr>
            </a:lvl2pPr>
            <a:lvl3pPr>
              <a:defRPr sz="2250" b="0">
                <a:solidFill>
                  <a:srgbClr val="567B65"/>
                </a:solidFill>
              </a:defRPr>
            </a:lvl3pPr>
            <a:lvl4pPr>
              <a:defRPr sz="2250" b="0">
                <a:solidFill>
                  <a:srgbClr val="567B65"/>
                </a:solidFill>
              </a:defRPr>
            </a:lvl4pPr>
            <a:lvl5pPr>
              <a:defRPr sz="2250" b="0">
                <a:solidFill>
                  <a:srgbClr val="567B65"/>
                </a:solidFill>
              </a:defRPr>
            </a:lvl5pPr>
            <a:lvl6pPr>
              <a:defRPr sz="2250" b="0">
                <a:solidFill>
                  <a:srgbClr val="567B65"/>
                </a:solidFill>
              </a:defRPr>
            </a:lvl6pPr>
            <a:lvl7pPr>
              <a:defRPr sz="2250" b="0">
                <a:solidFill>
                  <a:srgbClr val="567B65"/>
                </a:solidFill>
              </a:defRPr>
            </a:lvl7pPr>
            <a:lvl8pPr>
              <a:defRPr sz="2250" b="0">
                <a:solidFill>
                  <a:srgbClr val="567B65"/>
                </a:solidFill>
              </a:defRPr>
            </a:lvl8pPr>
            <a:lvl9pPr>
              <a:defRPr sz="2250" b="0">
                <a:solidFill>
                  <a:srgbClr val="567B65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67B65"/>
                </a:solidFill>
              </a:defRPr>
            </a:pPr>
            <a:r>
              <a:rPr sz="2250" b="0">
                <a:solidFill>
                  <a:srgbClr val="567B65"/>
                </a:solidFill>
              </a:rPr>
              <a:t>每一步操作都会更新对应的业务记录</a:t>
            </a:r>
          </a:p>
        </p:txBody>
      </p:sp>
    </p:spTree>
    <p:extLst>
      <p:ext uri="{BB962C8B-B14F-4D97-AF65-F5344CB8AC3E}">
        <p14:creationId xmlns:p14="http://schemas.microsoft.com/office/powerpoint/2010/main" val="13532240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C45EE-6DC9-4B04-9BB5-B19F4CCF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门诊接诊看板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D5036-12EC-4F57-AC86-786BDCD8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638E4-B9BC-4AC4-83C2-8E93DB41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697F1-A01D-4507-9D45-AF033613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候诊与接诊进度集中查看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37C94-02F0-458A-9777-E1368077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87124-2AE5-4B5E-B6B6-41C8DD26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28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8218D-2FAF-45F1-AE27-01DD0B50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候诊队列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E97E9-99DA-4C12-AB1C-3AC2BB7A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患者、医生、排队号</a:t>
            </a:r>
          </a:p>
          <a:p xmlns:a="http://schemas.openxmlformats.org/drawingml/2006/main">
            <a: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按序选择，开始接诊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5843B-FD45-474C-A363-5CAA4A4F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E778F-DCB7-4716-8CCD-5111E612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328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9B516-54C5-4D79-A2DD-246EE105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正在接诊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A0ECE-0E38-4656-979C-AD9CDAC2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当前患者与接诊状态</a:t>
            </a:r>
          </a:p>
          <a:p xmlns:a="http://schemas.openxmlformats.org/drawingml/2006/main">
            <a: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一键进入诊疗工作台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26285-0724-4CD3-B358-DA726336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AAC4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6D92E-7F9F-4CBE-A7BC-CCD11D19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28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DD7CD-4D83-464D-881C-F6A31A8C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完成情况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D96C6-F52A-4D55-8818-D77FDCF6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查看今日完成数量</a:t>
            </a:r>
          </a:p>
          <a:p xmlns:a="http://schemas.openxmlformats.org/drawingml/2006/main">
            <a: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列表定时刷新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41D3B-FD26-423E-9E49-627C21EA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rPr>
              <a:t>现场操作：医生登录后打开“接诊看板”</a:t>
            </a:r>
          </a:p>
        </p:txBody>
      </p:sp>
    </p:spTree>
    <p:extLst>
      <p:ext uri="{BB962C8B-B14F-4D97-AF65-F5344CB8AC3E}">
        <p14:creationId xmlns:p14="http://schemas.microsoft.com/office/powerpoint/2010/main" val="1176652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5EFDD-375A-4826-875C-57A63451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诊疗记录与患者时间线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0CB87-042B-4609-A73E-334346D1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BCC75-6F2C-4782-B180-CBB98B00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CF980-7B61-456D-B408-3ADFAF3B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本次诊疗记录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4AE74-212B-42F8-94AF-F6CEF5DD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主诉与现病史</a:t>
            </a:r>
          </a:p>
          <a:p xmlns:a="http://schemas.openxmlformats.org/drawingml/2006/main">
            <a: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既往史与过敏史</a:t>
            </a:r>
          </a:p>
          <a:p xmlns:a="http://schemas.openxmlformats.org/drawingml/2006/main">
            <a: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查体与诊疗意见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F3E26-0C50-4890-9B0C-D188B139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rPr>
              <a:t>常用诊断检索，减少重复输入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83B6C-6689-429C-9EF1-7B3E82DA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285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57066-9FD1-41BE-86D8-5A00B380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C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EE921-8198-442B-963D-E728F995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既往就诊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CB67B-476B-4F80-A4EF-4002EFC0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4317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回看诊断、处方与费用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47F0A-BB44-47D6-9B99-3140DC10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14700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56B93-B0A2-469C-BAA8-D97E5F67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本次接诊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8D982-D86A-49CC-9837-989112D2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8142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填写文书，选择诊断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3F445-2FB5-4A91-88F9-1F93FF8A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52950"/>
            <a:ext cx="200025" cy="200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BC6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3284A-A03F-4999-97F0-7664EE6C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提交处方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FF481-6D4E-4636-94EB-A5AEF2D1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19675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锁定本次诊疗记录</a:t>
            </a:r>
          </a:p>
        </p:txBody>
      </p:sp>
    </p:spTree>
    <p:extLst>
      <p:ext uri="{BB962C8B-B14F-4D97-AF65-F5344CB8AC3E}">
        <p14:creationId xmlns:p14="http://schemas.microsoft.com/office/powerpoint/2010/main" val="19039092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43875-833D-4C79-9A34-9332E34A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收费、退费与打印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6C0B7-46F7-4C74-A91A-6B182B17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DE736-3D2B-4632-896C-232E397B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6C2AD-BD78-4D1F-BCEB-A5CE24EB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处方明细核对后收费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770B1-9362-4836-B0BC-2C24240A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70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70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70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70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70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70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70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70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70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¥28.00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6B2B9-8F2E-4242-951D-C1C661B0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rPr>
              <a:t>计价示例：12.50 × 2 + 3.00 ×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A15AE-893F-404A-A0DA-AC04CBD4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5143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收费方式可选</a:t>
            </a:r>
          </a:p>
          <a:p xmlns:a="http://schemas.openxmlformats.org/drawingml/2006/main">
            <a: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未发药处方可全额退费</a:t>
            </a:r>
          </a:p>
          <a:p xmlns:a="http://schemas.openxmlformats.org/drawingml/2006/main">
            <a: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药品退回原批次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88E35-7DED-4CC8-82BA-EB8212D8F4C1}"/>
              </a:ext>
            </a:extLst>
          </p:cNvPr>
          <p:cNvGraphicFramePr/>
          <p:nvPr/>
        </p:nvGraphicFramePr>
        <p:xfrm>
          <a:off xmlns:a="http://schemas.openxmlformats.org/drawingml/2006/main" x="6429375" y="2476500"/>
          <a:ext xmlns:a="http://schemas.openxmlformats.org/drawingml/2006/main" cx="5095875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286125"/>
              </a:tblGrid>
              <a:tr h="738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打印内容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DB"/>
                      </a:solidFill>
                      <a:prstDash val="solid"/>
                    </a:lnL>
                    <a:lnR w="9525">
                      <a:solidFill>
                        <a:srgbClr val="D9E4DB"/>
                      </a:solidFill>
                      <a:prstDash val="solid"/>
                    </a:lnR>
                    <a:lnT w="9525">
                      <a:solidFill>
                        <a:srgbClr val="D9E4DB"/>
                      </a:solidFill>
                      <a:prstDash val="solid"/>
                    </a:lnT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DD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页面能力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DB"/>
                      </a:solidFill>
                      <a:prstDash val="solid"/>
                    </a:lnR>
                    <a:lnT w="9525">
                      <a:solidFill>
                        <a:srgbClr val="D9E4DB"/>
                      </a:solidFill>
                      <a:prstDash val="solid"/>
                    </a:lnT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DDECE1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门诊处方笺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DB"/>
                      </a:solidFill>
                      <a:prstDash val="solid"/>
                    </a:lnL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患者、诊断、药品、金额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收费凭证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DB"/>
                      </a:solidFill>
                      <a:prstDash val="solid"/>
                    </a:lnL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收费方式、时间、收费员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退费标记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DB"/>
                      </a:solidFill>
                      <a:prstDash val="solid"/>
                    </a:lnL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保留原凭证与退费原因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EF115-7B04-4B31-80ED-D43F9B68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715000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rPr>
              <a:t>浏览器打印，可另存为 PDF</a:t>
            </a:r>
          </a:p>
        </p:txBody>
      </p:sp>
    </p:spTree>
    <p:extLst>
      <p:ext uri="{BB962C8B-B14F-4D97-AF65-F5344CB8AC3E}">
        <p14:creationId xmlns:p14="http://schemas.microsoft.com/office/powerpoint/2010/main" val="12566919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4D04D-71BD-44C2-9948-EACD5969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药房库存预警与流水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E6E62-2279-4F39-8035-5AD9474C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67DB0-DC21-4D88-941E-97E271A1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8F7A3-B89E-4770-AE75-EB296811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提前看到缺药与效期问题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0718C-0899-420F-B09E-7253AE4A6271}"/>
              </a:ext>
            </a:extLst>
          </p:cNvPr>
          <p:cNvGraphicFramePr/>
          <p:nvPr/>
        </p:nvGraphicFramePr>
        <p:xfrm>
          <a:off xmlns:a="http://schemas.openxmlformats.org/drawingml/2006/main" x="666750" y="2571750"/>
          <a:ext xmlns:a="http://schemas.openxmlformats.org/drawingml/2006/main" cx="108585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191000"/>
                <a:gridCol w="4572000"/>
              </a:tblGrid>
              <a:tr h="6786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DB"/>
                      </a:solidFill>
                      <a:prstDash val="solid"/>
                    </a:lnL>
                    <a:lnR w="9525">
                      <a:solidFill>
                        <a:srgbClr val="D9E4DB"/>
                      </a:solidFill>
                      <a:prstDash val="solid"/>
                    </a:lnR>
                    <a:lnT w="9525">
                      <a:solidFill>
                        <a:srgbClr val="D9E4DB"/>
                      </a:solidFill>
                      <a:prstDash val="solid"/>
                    </a:lnT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DD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DB"/>
                      </a:solidFill>
                      <a:prstDash val="solid"/>
                    </a:lnR>
                    <a:lnT w="9525">
                      <a:solidFill>
                        <a:srgbClr val="D9E4DB"/>
                      </a:solidFill>
                      <a:prstDash val="solid"/>
                    </a:lnT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DDEC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现场看到什么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DB"/>
                      </a:solidFill>
                      <a:prstDash val="solid"/>
                    </a:lnR>
                    <a:lnT w="9525">
                      <a:solidFill>
                        <a:srgbClr val="D9E4DB"/>
                      </a:solidFill>
                      <a:prstDash val="solid"/>
                    </a:lnT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DDECE1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低库存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DB"/>
                      </a:solidFill>
                      <a:prstDash val="solid"/>
                    </a:lnL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可用数量 ≤ 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集中查看需要补充的药品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近效期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DB"/>
                      </a:solidFill>
                      <a:prstDash val="solid"/>
                    </a:lnL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未来30天内到期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优先关注即将到期的批次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已过期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4DB"/>
                      </a:solidFill>
                      <a:prstDash val="solid"/>
                    </a:lnL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批次效期已过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853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保留记录，禁止用于收费出库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4DB"/>
                      </a:solidFill>
                      <a:prstDash val="solid"/>
                    </a:lnR>
                    <a:lnB w="9525">
                      <a:solidFill>
                        <a:srgbClr val="D9E4DB"/>
                      </a:solidFill>
                      <a:prstDash val="solid"/>
                    </a:lnB>
                    <a:solidFill>
                      <a:srgbClr val="F8FA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F6708-0310-4861-A31F-B6F765F7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rPr>
              <a:t>出入库流水可追溯到批号、数量、关联处方与操作人</a:t>
            </a:r>
          </a:p>
        </p:txBody>
      </p:sp>
    </p:spTree>
    <p:extLst>
      <p:ext uri="{BB962C8B-B14F-4D97-AF65-F5344CB8AC3E}">
        <p14:creationId xmlns:p14="http://schemas.microsoft.com/office/powerpoint/2010/main" val="18498666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84731-D7CF-42B6-8402-7C23D4F6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门诊经营看板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EB63A-BF17-4CBB-9000-835AB277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F4CAC-5E56-4637-A637-9DBE42E7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7889E-A4EA-48EB-906B-F58D5E94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7 天虚构教学业务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F7BE3-A4E1-4EB9-9C89-765E732F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44 人次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0F2DD-76C7-4DEC-B088-3DB20299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04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rPr>
              <a:t>有效挂号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B6FD7-A530-4F26-B2C4-814F76C7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¥840.30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C1409-2A88-40FA-BEAF-B7B587BC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rPr>
              <a:t>收费金额 / 净收入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1BC6F7A5-8E82-44BC-8E8B-B435D393BBB9}"/>
              </a:ext>
            </a:extLst>
          </p:cNvPr>
          <p:cNvGraphicFramePr/>
          <p:nvPr/>
        </p:nvGraphicFramePr>
        <p:xfrm>
          <a:off xmlns:a="http://schemas.openxmlformats.org/drawingml/2006/main" x="4286250" y="2238375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a8fa028ffc472e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9CC42-98F0-4692-82FB-DFCCB95B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816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rPr>
              <a:t>可切换统计区间，查看科室分布并导出 CSV</a:t>
            </a:r>
          </a:p>
        </p:txBody>
      </p:sp>
    </p:spTree>
    <p:extLst>
      <p:ext uri="{BB962C8B-B14F-4D97-AF65-F5344CB8AC3E}">
        <p14:creationId xmlns:p14="http://schemas.microsoft.com/office/powerpoint/2010/main" val="1448964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9261F-2D3F-445F-96FE-B7CD6881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本次升级的展示重点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7F3F4-7D82-4CD9-9ED6-6107CCE9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D9E4F-8DB1-42E8-B14F-4454197A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C27AF-D1FF-43F3-B823-CFD99A02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看得到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00D54-2C34-4086-98F2-29764B2E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328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466D4-9C1B-4C42-9AAC-536CEBC6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3286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实时接诊看板</a:t>
            </a:r>
          </a:p>
          <a:p xmlns:a="http://schemas.openxmlformats.org/drawingml/2006/main">
            <a: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患者就诊时间线</a:t>
            </a:r>
          </a:p>
          <a:p xmlns:a="http://schemas.openxmlformats.org/drawingml/2006/main">
            <a: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门诊与收入趋势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D30E9-10B2-4C3C-AD3A-F079577C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点得动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04F58-B2A1-4D52-9495-8A4A2E5B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9875"/>
            <a:ext cx="328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F3742-7A05-4D7D-A7A5-D2A6AA5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3286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保存诊疗记录</a:t>
            </a:r>
          </a:p>
          <a:p xmlns:a="http://schemas.openxmlformats.org/drawingml/2006/main">
            <a: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收费与未发药退费</a:t>
            </a:r>
          </a:p>
          <a:p xmlns:a="http://schemas.openxmlformats.org/drawingml/2006/main">
            <a: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打印处方和凭证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10FC4-4ED2-4394-B05C-CBE210E8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查得清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8E52F-6467-4DE4-AD97-1FAB16A7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28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AC56D-71CB-49F8-AB79-F8BEE4C3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3286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低库存与效期提醒</a:t>
            </a:r>
          </a:p>
          <a:p xmlns:a="http://schemas.openxmlformats.org/drawingml/2006/main">
            <a: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按批次追溯流水</a:t>
            </a:r>
          </a:p>
          <a:p xmlns:a="http://schemas.openxmlformats.org/drawingml/2006/main">
            <a:pPr>
              <a:def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按区间导出报表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A9CB3-1FB2-427A-ACE6-D130B0FB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rPr>
              <a:t>所有场景均使用虚构数据，页面操作更新业务记录</a:t>
            </a:r>
          </a:p>
        </p:txBody>
      </p:sp>
    </p:spTree>
    <p:extLst>
      <p:ext uri="{BB962C8B-B14F-4D97-AF65-F5344CB8AC3E}">
        <p14:creationId xmlns:p14="http://schemas.microsoft.com/office/powerpoint/2010/main" val="17822864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C06A0-2079-4163-B692-0BFA7E75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83E34"/>
                </a:solidFill>
                <a:latin typeface="Microsoft YaHei"/>
                <a:ea typeface="Microsoft YaHei"/>
                <a:cs typeface="Microsoft YaHei"/>
              </a:rPr>
              <a:t>本机现场演示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CCDAA-6B71-43CC-9EBC-C5D69A5B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和序 HIS · 课程设计 / 本机演示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284DC-31E0-48D2-A14F-42B35270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F005E-8BCE-45FB-B6A2-E0B9089A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start-showcase.ps1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78101-29CA-4220-BEBC-EF4B0A0F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00:00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C2972-2CEF-4EB2-87E7-FF139C6F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813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经营看板与功能范围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2FBD0-B86D-45AE-B1DA-5F723499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00:40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08E31-733F-4025-A55C-8931F981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623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接诊、诊疗记录与时间线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5069E-1157-4E40-A1E2-6ACB3B20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02:00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5B4E0-9585-4EEE-A710-C6949B43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433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收费与打印凭证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69833-76F9-413A-9B4B-C6B5EB7B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03:10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A3DD6-786F-4046-8987-911827C5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243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发药、库存预警与流水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7AD49-5B12-4C0E-9752-67718ECE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E8C70"/>
                </a:solidFill>
                <a:latin typeface="Microsoft YaHei"/>
                <a:ea typeface="Microsoft YaHei"/>
                <a:cs typeface="Microsoft YaHei"/>
              </a:rPr>
              <a:t>04:20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68043-0DC4-433B-AAC1-1AECF908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054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8534B"/>
                </a:solidFill>
                <a:latin typeface="Microsoft YaHei"/>
                <a:ea typeface="Microsoft YaHei"/>
                <a:cs typeface="Microsoft YaHei"/>
              </a:rPr>
              <a:t>回看统计，准备答辩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8942A-CBED-4199-84D1-16A9DB85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A8F7E"/>
                </a:solidFill>
                <a:latin typeface="Microsoft YaHei"/>
                <a:ea typeface="Microsoft YaHei"/>
                <a:cs typeface="Microsoft YaHei"/>
              </a:rPr>
              <a:t>本机运行，无需公网。代码、报告、演示稿一并提交</a:t>
            </a:r>
          </a:p>
        </p:txBody>
      </p:sp>
    </p:spTree>
    <p:extLst>
      <p:ext uri="{BB962C8B-B14F-4D97-AF65-F5344CB8AC3E}">
        <p14:creationId xmlns:p14="http://schemas.microsoft.com/office/powerpoint/2010/main" val="2105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2026-10-29T10:47:45.9490000Z</dcterms:created>
  <dcterms:modified xsi:type="dcterms:W3CDTF">2026-10-29T10:47:45.9490000Z</dcterms:modified>
</coreProperties>
</file>